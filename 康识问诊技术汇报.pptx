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项目定位：可离线演示的家庭健康助手，底层是 Spring AI + LangChain4j + Milvus 的完整 RAG 链路。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四个部分：概览、数据与存储、AI 与检索（重点五页）、架构与工程。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第一部分：这个系统解决什么问题、由哪些模块构成、怎么分层。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核心场景：体检拿到化验单看不懂。三步闭环：读懂、盯住、追问。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六个数字概括工程量。102 个后端 Java 文件里 rag 包最重，说明重心在 AI 检索。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九个模块，右列是每个模块最能体现工程量的一项实现。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五层单向依赖，AI 能力集中在中间两层，且都对下层做了可缺省抽象 —— 这是第四部分四层降级的前提。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四张实际运行截图。灰框拖图即可，刷新后仍在。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第二部分：语料从哪来，落成什么表。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 个权威源切成 88 条向量。不含任何患者隐私数据。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 张表五个业务域。索引内联在建表语句里，脚本幂等，MySQL 与 H2 通用。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第三部分，全场重点：AI 到底怎么用起来的，五页。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被追问最多的一题：为什么两个框架都要。答：对话层管怎么说，检索层管说什么有依据，不重叠。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五段流水线加一条召回漏斗：库内 88 条，召回 24 条候选，精排后只有 5 条进入提示词。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真实 inspect 输出：三条候选，两条过阈值一条被挡。词法分全为 0，因为「心梗」与「心肌梗死」一个字都不重合。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全场最有说服力的一步：不经传统 OCR，多模态模型直接读图，11 项全部正确识别并判定高低。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医学场景的底线：确定性规则先于模型输出。规则与导诊共用同一份 EmergencyRules。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第四部分：架构上真正花心思的地方。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六条降级路径逐条实测过。青方块标出的三层是 AI 依赖。只有 MySQL 是硬依赖，离线可切 H2。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最值得讲的一段设计：双写而非切换，所以降级后检索依然准确，不是「能用但不准」。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Milvus 带来的六点变化。为什么不用关系库直接算相似度：全表逐条计算撑不住。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后端 102 个 Java 文件，rag 包 19 个最重，正好说明 AI 检索是这个项目的重心。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测试从 20 补到 94，覆盖越权、分页、幂等、限流。CI 三件事：后端测试、前端类型检查与构建、密钥自查。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一句话总结 + 免责声明。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343819"/>
            <a:ext cx="155448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914400"/>
            <a:ext cx="15544800" cy="19050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066800"/>
            <a:ext cx="2372826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11F1D">
                    <a:alpha val="52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技术汇报 · 康识问诊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5113596" y="1066800"/>
            <a:ext cx="1983085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11F1D">
                    <a:alpha val="52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REV.4 · 2026-09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34294" y="2378869"/>
            <a:ext cx="17140318" cy="7528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043"/>
              </a:lnSpc>
              <a:buNone/>
            </a:pPr>
            <a:r>
              <a:rPr lang="en-US" sz="8400" b="1" spc="-168" kern="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康识问诊</a:t>
            </a:r>
            <a:endParaRPr lang="en-US" sz="8400" dirty="0"/>
          </a:p>
        </p:txBody>
      </p:sp>
      <p:sp>
        <p:nvSpPr>
          <p:cNvPr id="7" name="Text 5"/>
          <p:cNvSpPr/>
          <p:nvPr/>
        </p:nvSpPr>
        <p:spPr>
          <a:xfrm>
            <a:off x="1371600" y="3493691"/>
            <a:ext cx="7411102" cy="158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186"/>
              </a:lnSpc>
              <a:buNone/>
            </a:pPr>
            <a:r>
              <a:rPr lang="en-US" sz="3150" dirty="0">
                <a:solidFill>
                  <a:srgbClr val="211D1D">
                    <a:alpha val="55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AI 医疗健康知识库智能问答系统 —— 检索增强问答、多模态化验单识别与四层可降级架构</a:t>
            </a:r>
            <a:endParaRPr lang="en-US" sz="3150" dirty="0"/>
          </a:p>
        </p:txBody>
      </p:sp>
      <p:sp>
        <p:nvSpPr>
          <p:cNvPr id="8" name="Shape 6"/>
          <p:cNvSpPr/>
          <p:nvPr/>
        </p:nvSpPr>
        <p:spPr>
          <a:xfrm>
            <a:off x="1371600" y="6065441"/>
            <a:ext cx="155448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6300391"/>
            <a:ext cx="2724150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文档类型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6586935"/>
            <a:ext cx="2724150" cy="210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98"/>
              </a:lnSpc>
              <a:buNone/>
            </a:pPr>
            <a:r>
              <a:rPr lang="en-US" sz="2025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实习汇报 · 技术说明</a:t>
            </a:r>
            <a:endParaRPr lang="en-US" sz="2025" dirty="0"/>
          </a:p>
        </p:txBody>
      </p:sp>
      <p:sp>
        <p:nvSpPr>
          <p:cNvPr id="11" name="Text 9"/>
          <p:cNvSpPr/>
          <p:nvPr/>
        </p:nvSpPr>
        <p:spPr>
          <a:xfrm>
            <a:off x="4533900" y="6300391"/>
            <a:ext cx="2724150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版本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33900" y="6586935"/>
            <a:ext cx="2724150" cy="210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98"/>
              </a:lnSpc>
              <a:buNone/>
            </a:pPr>
            <a:r>
              <a:rPr lang="en-US" sz="2025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REV.4 · 第四轮改进后</a:t>
            </a:r>
            <a:endParaRPr lang="en-US" sz="2025" dirty="0"/>
          </a:p>
        </p:txBody>
      </p:sp>
      <p:sp>
        <p:nvSpPr>
          <p:cNvPr id="13" name="Text 11"/>
          <p:cNvSpPr/>
          <p:nvPr/>
        </p:nvSpPr>
        <p:spPr>
          <a:xfrm>
            <a:off x="7696200" y="6300391"/>
            <a:ext cx="2724150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技术栈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696200" y="6586935"/>
            <a:ext cx="2552700" cy="609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98"/>
              </a:lnSpc>
              <a:buNone/>
            </a:pPr>
            <a:r>
              <a:rPr lang="en-US" sz="2025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Spring Boot 4 · Vue 3</a:t>
            </a:r>
            <a:endParaRPr lang="en-US" sz="2025" dirty="0"/>
          </a:p>
        </p:txBody>
      </p:sp>
      <p:sp>
        <p:nvSpPr>
          <p:cNvPr id="15" name="Text 13"/>
          <p:cNvSpPr/>
          <p:nvPr/>
        </p:nvSpPr>
        <p:spPr>
          <a:xfrm>
            <a:off x="10858500" y="6300391"/>
            <a:ext cx="2724150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页数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858500" y="6586935"/>
            <a:ext cx="2724150" cy="210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98"/>
              </a:lnSpc>
              <a:buNone/>
            </a:pPr>
            <a:r>
              <a:rPr lang="en-US" sz="2025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24 页 · 4 个部分</a:t>
            </a:r>
            <a:endParaRPr lang="en-US" sz="2025" dirty="0"/>
          </a:p>
        </p:txBody>
      </p:sp>
      <p:sp>
        <p:nvSpPr>
          <p:cNvPr id="17" name="Text 15"/>
          <p:cNvSpPr/>
          <p:nvPr/>
        </p:nvSpPr>
        <p:spPr>
          <a:xfrm>
            <a:off x="1371600" y="7929364"/>
            <a:ext cx="1009948" cy="43378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504"/>
              </a:lnSpc>
              <a:buNone/>
            </a:pPr>
            <a:r>
              <a:rPr lang="en-US" sz="4650" b="1" spc="-93" kern="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162</a:t>
            </a:r>
            <a:endParaRPr lang="en-US" sz="4650" dirty="0"/>
          </a:p>
        </p:txBody>
      </p:sp>
      <p:sp>
        <p:nvSpPr>
          <p:cNvPr id="18" name="Text 16"/>
          <p:cNvSpPr/>
          <p:nvPr/>
        </p:nvSpPr>
        <p:spPr>
          <a:xfrm>
            <a:off x="1371600" y="8477449"/>
            <a:ext cx="1009948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源文件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219748" y="7929364"/>
            <a:ext cx="803176" cy="43378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504"/>
              </a:lnSpc>
              <a:buNone/>
            </a:pPr>
            <a:r>
              <a:rPr lang="en-US" sz="4650" b="1" spc="-93" kern="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14</a:t>
            </a:r>
            <a:endParaRPr lang="en-US" sz="4650" dirty="0"/>
          </a:p>
        </p:txBody>
      </p:sp>
      <p:sp>
        <p:nvSpPr>
          <p:cNvPr id="20" name="Text 18"/>
          <p:cNvSpPr/>
          <p:nvPr/>
        </p:nvSpPr>
        <p:spPr>
          <a:xfrm>
            <a:off x="3219748" y="8477449"/>
            <a:ext cx="803176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数据表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861124" y="7929364"/>
            <a:ext cx="1045468" cy="43378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504"/>
              </a:lnSpc>
              <a:buNone/>
            </a:pPr>
            <a:r>
              <a:rPr lang="en-US" sz="4650" b="1" spc="-93" kern="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88</a:t>
            </a:r>
            <a:endParaRPr lang="en-US" sz="4650" dirty="0"/>
          </a:p>
        </p:txBody>
      </p:sp>
      <p:sp>
        <p:nvSpPr>
          <p:cNvPr id="22" name="Text 20"/>
          <p:cNvSpPr/>
          <p:nvPr/>
        </p:nvSpPr>
        <p:spPr>
          <a:xfrm>
            <a:off x="4861124" y="8477449"/>
            <a:ext cx="1045468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向量条目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744792" y="7929364"/>
            <a:ext cx="1045468" cy="43378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504"/>
              </a:lnSpc>
              <a:buNone/>
            </a:pPr>
            <a:r>
              <a:rPr lang="en-US" sz="4650" b="1" spc="-93" kern="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94</a:t>
            </a:r>
            <a:endParaRPr lang="en-US" sz="4650" dirty="0"/>
          </a:p>
        </p:txBody>
      </p:sp>
      <p:sp>
        <p:nvSpPr>
          <p:cNvPr id="24" name="Text 22"/>
          <p:cNvSpPr/>
          <p:nvPr/>
        </p:nvSpPr>
        <p:spPr>
          <a:xfrm>
            <a:off x="6744792" y="8477449"/>
            <a:ext cx="1045468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测试全绿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371600" y="9079706"/>
            <a:ext cx="155448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371600" y="9219406"/>
            <a:ext cx="4531410" cy="191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01E1E">
                    <a:alpha val="44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本文全部数据取自项目源码与运行实测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6150333" y="9219406"/>
            <a:ext cx="842268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01E1E">
                    <a:alpha val="44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01 / 24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4410075" y="190500"/>
            <a:ext cx="609600" cy="152400"/>
          </a:xfrm>
          <a:prstGeom prst="rect">
            <a:avLst/>
          </a:prstGeom>
          <a:gradFill rotWithShape="1">
            <a:gsLst>
              <a:gs pos="0">
                <a:srgbClr val="0088B0">
                  <a:alpha val="100000"/>
                </a:srgbClr>
              </a:gs>
              <a:gs pos="25000">
                <a:srgbClr val="0088B0">
                  <a:alpha val="100000"/>
                </a:srgbClr>
              </a:gs>
              <a:gs pos="25000">
                <a:srgbClr val="D6006C">
                  <a:alpha val="100000"/>
                </a:srgbClr>
              </a:gs>
              <a:gs pos="50000">
                <a:srgbClr val="D6006C">
                  <a:alpha val="100000"/>
                </a:srgbClr>
              </a:gs>
              <a:gs pos="50000">
                <a:srgbClr val="EDBB00">
                  <a:alpha val="100000"/>
                </a:srgbClr>
              </a:gs>
              <a:gs pos="75000">
                <a:srgbClr val="EDBB00">
                  <a:alpha val="100000"/>
                </a:srgbClr>
              </a:gs>
              <a:gs pos="75000">
                <a:srgbClr val="201E1D">
                  <a:alpha val="100000"/>
                </a:srgbClr>
              </a:gs>
            </a:gsLst>
            <a:lin ang="0" scaled="0"/>
          </a:gradFill>
          <a:ln/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10075" y="190500"/>
            <a:ext cx="6096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343819"/>
            <a:ext cx="155448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914400"/>
            <a:ext cx="15544800" cy="19050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066800"/>
            <a:ext cx="2372826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11F1D">
                    <a:alpha val="52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技术汇报 · 康识问诊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877654" y="1066800"/>
            <a:ext cx="2242622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11F1D">
                    <a:alpha val="52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目录 · CONTENTS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50963" y="1769269"/>
            <a:ext cx="17121982" cy="4337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69"/>
              </a:lnSpc>
              <a:buNone/>
            </a:pPr>
            <a:r>
              <a:rPr lang="en-US" sz="4650" b="1" spc="-70" kern="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目录</a:t>
            </a:r>
            <a:endParaRPr lang="en-US" sz="4650" dirty="0"/>
          </a:p>
        </p:txBody>
      </p:sp>
      <p:sp>
        <p:nvSpPr>
          <p:cNvPr id="7" name="Text 5"/>
          <p:cNvSpPr/>
          <p:nvPr/>
        </p:nvSpPr>
        <p:spPr>
          <a:xfrm>
            <a:off x="1371600" y="3040360"/>
            <a:ext cx="318095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127845" y="2925564"/>
            <a:ext cx="1760220" cy="306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547"/>
              </a:lnSpc>
              <a:buNone/>
            </a:pPr>
            <a:r>
              <a:rPr lang="en-US" sz="315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项目概览</a:t>
            </a:r>
            <a:endParaRPr lang="en-US" sz="3150" dirty="0"/>
          </a:p>
        </p:txBody>
      </p:sp>
      <p:sp>
        <p:nvSpPr>
          <p:cNvPr id="9" name="Text 7"/>
          <p:cNvSpPr/>
          <p:nvPr/>
        </p:nvSpPr>
        <p:spPr>
          <a:xfrm>
            <a:off x="9882188" y="3040360"/>
            <a:ext cx="3798094" cy="191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dirty="0">
                <a:solidFill>
                  <a:srgbClr val="211F1D">
                    <a:alpha val="52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定位 · 关键数据 · 模块 · 分层 · 界面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25525" y="3040360"/>
            <a:ext cx="1362075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lnSpc>
                <a:spcPct val="113878"/>
              </a:lnSpc>
              <a:buNone/>
            </a:pPr>
            <a:r>
              <a:rPr lang="en-US" sz="1800" dirty="0">
                <a:solidFill>
                  <a:srgbClr val="1F1F1D">
                    <a:alpha val="42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04 — 08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371600" y="3422154"/>
            <a:ext cx="137160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3771900"/>
            <a:ext cx="318095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127845" y="3657104"/>
            <a:ext cx="3080385" cy="306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547"/>
              </a:lnSpc>
              <a:buNone/>
            </a:pPr>
            <a:r>
              <a:rPr lang="en-US" sz="315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数据集与数据库</a:t>
            </a:r>
            <a:endParaRPr lang="en-US" sz="3150" dirty="0"/>
          </a:p>
        </p:txBody>
      </p:sp>
      <p:sp>
        <p:nvSpPr>
          <p:cNvPr id="14" name="Text 12"/>
          <p:cNvSpPr/>
          <p:nvPr/>
        </p:nvSpPr>
        <p:spPr>
          <a:xfrm>
            <a:off x="10508060" y="3771900"/>
            <a:ext cx="3109635" cy="191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dirty="0">
                <a:solidFill>
                  <a:srgbClr val="211F1D">
                    <a:alpha val="52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12 个权威源 · 14 张表五个域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25525" y="3771900"/>
            <a:ext cx="1362075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lnSpc>
                <a:spcPct val="113878"/>
              </a:lnSpc>
              <a:buNone/>
            </a:pPr>
            <a:r>
              <a:rPr lang="en-US" sz="1800" dirty="0">
                <a:solidFill>
                  <a:srgbClr val="1F1F1D">
                    <a:alpha val="42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10 — 11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371600" y="4153694"/>
            <a:ext cx="137160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371600" y="4503440"/>
            <a:ext cx="318095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127845" y="4388644"/>
            <a:ext cx="3659158" cy="306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547"/>
              </a:lnSpc>
              <a:buNone/>
            </a:pPr>
            <a:r>
              <a:rPr lang="en-US" sz="315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AI 能力与检索链路</a:t>
            </a:r>
            <a:endParaRPr lang="en-US" sz="3150" dirty="0"/>
          </a:p>
        </p:txBody>
      </p:sp>
      <p:sp>
        <p:nvSpPr>
          <p:cNvPr id="19" name="Text 17"/>
          <p:cNvSpPr/>
          <p:nvPr/>
        </p:nvSpPr>
        <p:spPr>
          <a:xfrm>
            <a:off x="9631660" y="4503440"/>
            <a:ext cx="4073674" cy="191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dirty="0">
                <a:solidFill>
                  <a:srgbClr val="211F1D">
                    <a:alpha val="52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双框架 · RAG · 精排 · 多模态 · 安全网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725525" y="4503440"/>
            <a:ext cx="1362075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lnSpc>
                <a:spcPct val="113878"/>
              </a:lnSpc>
              <a:buNone/>
            </a:pPr>
            <a:r>
              <a:rPr lang="en-US" sz="1800" dirty="0">
                <a:solidFill>
                  <a:srgbClr val="1F1F1D">
                    <a:alpha val="42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13 — 17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371600" y="4885234"/>
            <a:ext cx="137160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371600" y="5234980"/>
            <a:ext cx="318095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2127845" y="5120184"/>
            <a:ext cx="3960495" cy="306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547"/>
              </a:lnSpc>
              <a:buNone/>
            </a:pPr>
            <a:r>
              <a:rPr lang="en-US" sz="315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架构亮点与工程质量</a:t>
            </a:r>
            <a:endParaRPr lang="en-US" sz="3150" dirty="0"/>
          </a:p>
        </p:txBody>
      </p:sp>
      <p:sp>
        <p:nvSpPr>
          <p:cNvPr id="24" name="Text 22"/>
          <p:cNvSpPr/>
          <p:nvPr/>
        </p:nvSpPr>
        <p:spPr>
          <a:xfrm>
            <a:off x="10059591" y="5234980"/>
            <a:ext cx="3602950" cy="191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dirty="0">
                <a:solidFill>
                  <a:srgbClr val="211F1D">
                    <a:alpha val="52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四层降级 · 双写路由 · 源码 · 测试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3725525" y="5234980"/>
            <a:ext cx="1362075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lnSpc>
                <a:spcPct val="113878"/>
              </a:lnSpc>
              <a:buNone/>
            </a:pPr>
            <a:r>
              <a:rPr lang="en-US" sz="1800" dirty="0">
                <a:solidFill>
                  <a:srgbClr val="1F1F1D">
                    <a:alpha val="42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19 — 23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371600" y="6035873"/>
            <a:ext cx="155448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371600" y="6277174"/>
            <a:ext cx="495300" cy="39241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图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790700" y="6270824"/>
            <a:ext cx="4434459" cy="1123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15"/>
              </a:lnSpc>
              <a:buNone/>
            </a:pPr>
            <a:r>
              <a:rPr lang="en-US" sz="1875" dirty="0">
                <a:solidFill>
                  <a:srgbClr val="201E1D">
                    <a:alpha val="6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共 8 幅：分层架构、数据库域图、RAG 流水线、精排阈值、双写路由、源码构成与测试演进。</a:t>
            </a:r>
            <a:endParaRPr lang="en-US" sz="1875" dirty="0"/>
          </a:p>
        </p:txBody>
      </p:sp>
      <p:sp>
        <p:nvSpPr>
          <p:cNvPr id="29" name="Text 27"/>
          <p:cNvSpPr/>
          <p:nvPr/>
        </p:nvSpPr>
        <p:spPr>
          <a:xfrm>
            <a:off x="6781800" y="6277174"/>
            <a:ext cx="495300" cy="39241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表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200900" y="6270824"/>
            <a:ext cx="4434459" cy="1123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15"/>
              </a:lnSpc>
              <a:buNone/>
            </a:pPr>
            <a:r>
              <a:rPr lang="en-US" sz="1875" dirty="0">
                <a:solidFill>
                  <a:srgbClr val="201E1D">
                    <a:alpha val="6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共 5 张：功能模块、知识来源、化验单读数、四层降级矩阵与向量库接入前后对照。</a:t>
            </a:r>
            <a:endParaRPr lang="en-US" sz="1875" dirty="0"/>
          </a:p>
        </p:txBody>
      </p:sp>
      <p:sp>
        <p:nvSpPr>
          <p:cNvPr id="31" name="Text 29"/>
          <p:cNvSpPr/>
          <p:nvPr/>
        </p:nvSpPr>
        <p:spPr>
          <a:xfrm>
            <a:off x="12192000" y="6277174"/>
            <a:ext cx="495300" cy="39241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口径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2611100" y="6270824"/>
            <a:ext cx="4434459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15"/>
              </a:lnSpc>
              <a:buNone/>
            </a:pPr>
            <a:r>
              <a:rPr lang="en-US" sz="1875" dirty="0">
                <a:solidFill>
                  <a:srgbClr val="201E1D">
                    <a:alpha val="6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所有数字均可在仓库内复核；标注「实测」的为本机运行输出，非估算。</a:t>
            </a:r>
            <a:endParaRPr lang="en-US" sz="1875" dirty="0"/>
          </a:p>
        </p:txBody>
      </p:sp>
      <p:sp>
        <p:nvSpPr>
          <p:cNvPr id="33" name="Shape 31"/>
          <p:cNvSpPr/>
          <p:nvPr/>
        </p:nvSpPr>
        <p:spPr>
          <a:xfrm>
            <a:off x="1371600" y="9079706"/>
            <a:ext cx="155448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1371600" y="9219406"/>
            <a:ext cx="3371681" cy="191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01E1E">
                    <a:alpha val="44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康识问诊 · 技术汇报 · REV.4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6150333" y="9219406"/>
            <a:ext cx="842268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01E1E">
                    <a:alpha val="44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02 / 24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54000" y="0"/>
            <a:ext cx="5334000" cy="10287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3375" y="190500"/>
            <a:ext cx="1143000" cy="1524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0" y="9944100"/>
            <a:ext cx="1428750" cy="15240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5895975" y="9906000"/>
            <a:ext cx="228600" cy="228600"/>
          </a:xfrm>
          <a:prstGeom prst="ellipse">
            <a:avLst/>
          </a:prstGeom>
          <a:solidFill>
            <a:srgbClr val="201E1D">
              <a:alpha val="80000"/>
            </a:srgbClr>
          </a:solidFill>
          <a:ln/>
        </p:spPr>
      </p:sp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5975" y="9906000"/>
            <a:ext cx="228600" cy="228600"/>
          </a:xfrm>
          <a:prstGeom prst="ellipse">
            <a:avLst/>
          </a:prstGeom>
        </p:spPr>
      </p:pic>
      <p:sp>
        <p:nvSpPr>
          <p:cNvPr id="7" name="Shape 1"/>
          <p:cNvSpPr/>
          <p:nvPr/>
        </p:nvSpPr>
        <p:spPr>
          <a:xfrm>
            <a:off x="1371600" y="1343819"/>
            <a:ext cx="155448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8" name="Shape 2"/>
          <p:cNvSpPr/>
          <p:nvPr/>
        </p:nvSpPr>
        <p:spPr>
          <a:xfrm>
            <a:off x="1371600" y="914400"/>
            <a:ext cx="15544800" cy="19050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9" name="Text 3"/>
          <p:cNvSpPr/>
          <p:nvPr/>
        </p:nvSpPr>
        <p:spPr>
          <a:xfrm>
            <a:off x="1371600" y="1066800"/>
            <a:ext cx="1045468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11F1D">
                    <a:alpha val="52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第一部分</a:t>
            </a:r>
            <a:endParaRPr lang="en-US" sz="1800" dirty="0"/>
          </a:p>
        </p:txBody>
      </p:sp>
      <p:sp>
        <p:nvSpPr>
          <p:cNvPr id="10" name="Text 4"/>
          <p:cNvSpPr/>
          <p:nvPr/>
        </p:nvSpPr>
        <p:spPr>
          <a:xfrm>
            <a:off x="16150333" y="1066800"/>
            <a:ext cx="842268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11F1D">
                    <a:alpha val="52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01 / 04</a:t>
            </a:r>
            <a:endParaRPr lang="en-US" sz="1800" dirty="0"/>
          </a:p>
        </p:txBody>
      </p:sp>
      <p:sp>
        <p:nvSpPr>
          <p:cNvPr id="11" name="Text 5"/>
          <p:cNvSpPr/>
          <p:nvPr/>
        </p:nvSpPr>
        <p:spPr>
          <a:xfrm>
            <a:off x="1350963" y="2378869"/>
            <a:ext cx="17121982" cy="4337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69"/>
              </a:lnSpc>
              <a:buNone/>
            </a:pPr>
            <a:r>
              <a:rPr lang="en-US" sz="4650" b="1" spc="-70" kern="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项目概览</a:t>
            </a:r>
            <a:endParaRPr lang="en-US" sz="4650" dirty="0"/>
          </a:p>
        </p:txBody>
      </p:sp>
      <p:sp>
        <p:nvSpPr>
          <p:cNvPr id="12" name="Shape 6"/>
          <p:cNvSpPr/>
          <p:nvPr/>
        </p:nvSpPr>
        <p:spPr>
          <a:xfrm>
            <a:off x="1371600" y="3546078"/>
            <a:ext cx="85725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13" name="Text 7"/>
          <p:cNvSpPr/>
          <p:nvPr/>
        </p:nvSpPr>
        <p:spPr>
          <a:xfrm>
            <a:off x="1371600" y="3736677"/>
            <a:ext cx="318095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04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1918295" y="3704828"/>
            <a:ext cx="2734628" cy="223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375"/>
              </a:lnSpc>
              <a:buNone/>
            </a:pPr>
            <a:r>
              <a:rPr lang="en-US" sz="2175" dirty="0">
                <a:solidFill>
                  <a:srgbClr val="201F1D">
                    <a:alpha val="62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项目定位与使用场景</a:t>
            </a:r>
            <a:endParaRPr lang="en-US" sz="2175" dirty="0"/>
          </a:p>
        </p:txBody>
      </p:sp>
      <p:sp>
        <p:nvSpPr>
          <p:cNvPr id="15" name="Text 9"/>
          <p:cNvSpPr/>
          <p:nvPr/>
        </p:nvSpPr>
        <p:spPr>
          <a:xfrm>
            <a:off x="9540379" y="3736677"/>
            <a:ext cx="479921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dirty="0">
                <a:solidFill>
                  <a:srgbClr val="201E1E">
                    <a:alpha val="40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3 列</a:t>
            </a:r>
            <a:endParaRPr lang="en-US" sz="1800" dirty="0"/>
          </a:p>
        </p:txBody>
      </p:sp>
      <p:sp>
        <p:nvSpPr>
          <p:cNvPr id="16" name="Shape 10"/>
          <p:cNvSpPr/>
          <p:nvPr/>
        </p:nvSpPr>
        <p:spPr>
          <a:xfrm>
            <a:off x="1371600" y="4042271"/>
            <a:ext cx="85725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17" name="Text 11"/>
          <p:cNvSpPr/>
          <p:nvPr/>
        </p:nvSpPr>
        <p:spPr>
          <a:xfrm>
            <a:off x="1371600" y="4232870"/>
            <a:ext cx="318095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05</a:t>
            </a:r>
            <a:endParaRPr lang="en-US" sz="1800" dirty="0"/>
          </a:p>
        </p:txBody>
      </p:sp>
      <p:sp>
        <p:nvSpPr>
          <p:cNvPr id="18" name="Text 12"/>
          <p:cNvSpPr/>
          <p:nvPr/>
        </p:nvSpPr>
        <p:spPr>
          <a:xfrm>
            <a:off x="1918295" y="4201021"/>
            <a:ext cx="1823085" cy="223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375"/>
              </a:lnSpc>
              <a:buNone/>
            </a:pPr>
            <a:r>
              <a:rPr lang="en-US" sz="2175" dirty="0">
                <a:solidFill>
                  <a:srgbClr val="201F1D">
                    <a:alpha val="62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关键数据一览</a:t>
            </a:r>
            <a:endParaRPr lang="en-US" sz="2175" dirty="0"/>
          </a:p>
        </p:txBody>
      </p:sp>
      <p:sp>
        <p:nvSpPr>
          <p:cNvPr id="19" name="Text 13"/>
          <p:cNvSpPr/>
          <p:nvPr/>
        </p:nvSpPr>
        <p:spPr>
          <a:xfrm>
            <a:off x="9540379" y="4232870"/>
            <a:ext cx="479921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dirty="0">
                <a:solidFill>
                  <a:srgbClr val="201E1E">
                    <a:alpha val="40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6 项</a:t>
            </a:r>
            <a:endParaRPr lang="en-US" sz="1800" dirty="0"/>
          </a:p>
        </p:txBody>
      </p:sp>
      <p:sp>
        <p:nvSpPr>
          <p:cNvPr id="20" name="Shape 14"/>
          <p:cNvSpPr/>
          <p:nvPr/>
        </p:nvSpPr>
        <p:spPr>
          <a:xfrm>
            <a:off x="1371600" y="4538464"/>
            <a:ext cx="85725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21" name="Text 15"/>
          <p:cNvSpPr/>
          <p:nvPr/>
        </p:nvSpPr>
        <p:spPr>
          <a:xfrm>
            <a:off x="1371600" y="4729063"/>
            <a:ext cx="318095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06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1918295" y="4697214"/>
            <a:ext cx="1823085" cy="223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375"/>
              </a:lnSpc>
              <a:buNone/>
            </a:pPr>
            <a:r>
              <a:rPr lang="en-US" sz="2175" dirty="0">
                <a:solidFill>
                  <a:srgbClr val="201F1D">
                    <a:alpha val="62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功能模块一览</a:t>
            </a:r>
            <a:endParaRPr lang="en-US" sz="2175" dirty="0"/>
          </a:p>
        </p:txBody>
      </p:sp>
      <p:sp>
        <p:nvSpPr>
          <p:cNvPr id="23" name="Text 17"/>
          <p:cNvSpPr/>
          <p:nvPr/>
        </p:nvSpPr>
        <p:spPr>
          <a:xfrm>
            <a:off x="9540379" y="4729063"/>
            <a:ext cx="479921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dirty="0">
                <a:solidFill>
                  <a:srgbClr val="201E1E">
                    <a:alpha val="40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表 1</a:t>
            </a:r>
            <a:endParaRPr lang="en-US" sz="1800" dirty="0"/>
          </a:p>
        </p:txBody>
      </p:sp>
      <p:sp>
        <p:nvSpPr>
          <p:cNvPr id="24" name="Shape 18"/>
          <p:cNvSpPr/>
          <p:nvPr/>
        </p:nvSpPr>
        <p:spPr>
          <a:xfrm>
            <a:off x="1371600" y="5034657"/>
            <a:ext cx="85725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25" name="Text 19"/>
          <p:cNvSpPr/>
          <p:nvPr/>
        </p:nvSpPr>
        <p:spPr>
          <a:xfrm>
            <a:off x="1371600" y="5225257"/>
            <a:ext cx="318095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07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1918295" y="5193407"/>
            <a:ext cx="1823085" cy="223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375"/>
              </a:lnSpc>
              <a:buNone/>
            </a:pPr>
            <a:r>
              <a:rPr lang="en-US" sz="2175" dirty="0">
                <a:solidFill>
                  <a:srgbClr val="201F1D">
                    <a:alpha val="62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系统分层架构</a:t>
            </a:r>
            <a:endParaRPr lang="en-US" sz="2175" dirty="0"/>
          </a:p>
        </p:txBody>
      </p:sp>
      <p:sp>
        <p:nvSpPr>
          <p:cNvPr id="27" name="Text 21"/>
          <p:cNvSpPr/>
          <p:nvPr/>
        </p:nvSpPr>
        <p:spPr>
          <a:xfrm>
            <a:off x="9540379" y="5225257"/>
            <a:ext cx="479921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dirty="0">
                <a:solidFill>
                  <a:srgbClr val="201E1E">
                    <a:alpha val="40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图 1</a:t>
            </a:r>
            <a:endParaRPr lang="en-US" sz="1800" dirty="0"/>
          </a:p>
        </p:txBody>
      </p:sp>
      <p:sp>
        <p:nvSpPr>
          <p:cNvPr id="28" name="Shape 22"/>
          <p:cNvSpPr/>
          <p:nvPr/>
        </p:nvSpPr>
        <p:spPr>
          <a:xfrm>
            <a:off x="1371600" y="5530850"/>
            <a:ext cx="85725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29" name="Text 23"/>
          <p:cNvSpPr/>
          <p:nvPr/>
        </p:nvSpPr>
        <p:spPr>
          <a:xfrm>
            <a:off x="1371600" y="5721450"/>
            <a:ext cx="318095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08</a:t>
            </a:r>
            <a:endParaRPr lang="en-US" sz="1800" dirty="0"/>
          </a:p>
        </p:txBody>
      </p:sp>
      <p:sp>
        <p:nvSpPr>
          <p:cNvPr id="30" name="Text 24"/>
          <p:cNvSpPr/>
          <p:nvPr/>
        </p:nvSpPr>
        <p:spPr>
          <a:xfrm>
            <a:off x="1918295" y="5689600"/>
            <a:ext cx="1181100" cy="223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375"/>
              </a:lnSpc>
              <a:buNone/>
            </a:pPr>
            <a:r>
              <a:rPr lang="en-US" sz="2175" dirty="0">
                <a:solidFill>
                  <a:srgbClr val="201F1D">
                    <a:alpha val="62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界面一览</a:t>
            </a:r>
            <a:endParaRPr lang="en-US" sz="2175" dirty="0"/>
          </a:p>
        </p:txBody>
      </p:sp>
      <p:sp>
        <p:nvSpPr>
          <p:cNvPr id="31" name="Text 25"/>
          <p:cNvSpPr/>
          <p:nvPr/>
        </p:nvSpPr>
        <p:spPr>
          <a:xfrm>
            <a:off x="9540379" y="5721450"/>
            <a:ext cx="479921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dirty="0">
                <a:solidFill>
                  <a:srgbClr val="201E1E">
                    <a:alpha val="40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图 2</a:t>
            </a:r>
            <a:endParaRPr lang="en-US" sz="1800" dirty="0"/>
          </a:p>
        </p:txBody>
      </p:sp>
      <p:sp>
        <p:nvSpPr>
          <p:cNvPr id="32" name="Shape 26"/>
          <p:cNvSpPr/>
          <p:nvPr/>
        </p:nvSpPr>
        <p:spPr>
          <a:xfrm>
            <a:off x="799505" y="6459935"/>
            <a:ext cx="2539703" cy="1906786"/>
          </a:xfrm>
          <a:prstGeom prst="rect">
            <a:avLst/>
          </a:prstGeom>
          <a:solidFill>
            <a:srgbClr val="F3F2F2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505" y="6459935"/>
            <a:ext cx="2539703" cy="1906786"/>
          </a:xfrm>
          <a:prstGeom prst="rect">
            <a:avLst/>
          </a:prstGeom>
        </p:spPr>
      </p:pic>
      <p:sp>
        <p:nvSpPr>
          <p:cNvPr id="34" name="Shape 27"/>
          <p:cNvSpPr/>
          <p:nvPr/>
        </p:nvSpPr>
        <p:spPr>
          <a:xfrm>
            <a:off x="1371600" y="9079706"/>
            <a:ext cx="155448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35" name="Text 28"/>
          <p:cNvSpPr/>
          <p:nvPr/>
        </p:nvSpPr>
        <p:spPr>
          <a:xfrm>
            <a:off x="1371600" y="9219406"/>
            <a:ext cx="3371681" cy="191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01E1E">
                    <a:alpha val="44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康识问诊 · 技术汇报 · REV.4</a:t>
            </a:r>
            <a:endParaRPr lang="en-US" sz="1800" dirty="0"/>
          </a:p>
        </p:txBody>
      </p:sp>
      <p:sp>
        <p:nvSpPr>
          <p:cNvPr id="36" name="Text 29"/>
          <p:cNvSpPr/>
          <p:nvPr/>
        </p:nvSpPr>
        <p:spPr>
          <a:xfrm>
            <a:off x="16150333" y="9219406"/>
            <a:ext cx="842268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01E1E">
                    <a:alpha val="44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03 / 24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343819"/>
            <a:ext cx="155448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914400"/>
            <a:ext cx="15544800" cy="19050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066800"/>
            <a:ext cx="1538446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01 </a:t>
            </a:r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11F1D">
                    <a:alpha val="52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项目概览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735473" y="1066800"/>
            <a:ext cx="2399020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11F1D">
                    <a:alpha val="52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项目定位与使用场景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33400" y="4465638"/>
            <a:ext cx="345579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33400" y="4866481"/>
            <a:ext cx="345579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1F1F1F">
                    <a:alpha val="2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33400" y="5267325"/>
            <a:ext cx="345579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1F1F1F">
                    <a:alpha val="2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03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33400" y="5668169"/>
            <a:ext cx="345579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1F1F1F">
                    <a:alpha val="2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04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50963" y="1769269"/>
            <a:ext cx="17121982" cy="4337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69"/>
              </a:lnSpc>
              <a:buNone/>
            </a:pPr>
            <a:r>
              <a:rPr lang="en-US" sz="4650" b="1" spc="-70" kern="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项目定位与使用场景</a:t>
            </a:r>
            <a:endParaRPr lang="en-US" sz="4650" dirty="0"/>
          </a:p>
        </p:txBody>
      </p:sp>
      <p:sp>
        <p:nvSpPr>
          <p:cNvPr id="11" name="Text 9"/>
          <p:cNvSpPr/>
          <p:nvPr/>
        </p:nvSpPr>
        <p:spPr>
          <a:xfrm>
            <a:off x="1371600" y="2545953"/>
            <a:ext cx="15430521" cy="223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75" dirty="0">
                <a:solidFill>
                  <a:srgbClr val="201E1D">
                    <a:alpha val="6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面向家庭的健康助手，目标用户是拿到体检报告却读不懂的普通人 —— 尤其是替父母管理健康的年轻人。</a:t>
            </a:r>
            <a:endParaRPr lang="en-US" sz="2175" dirty="0"/>
          </a:p>
        </p:txBody>
      </p:sp>
      <p:sp>
        <p:nvSpPr>
          <p:cNvPr id="12" name="Shape 10"/>
          <p:cNvSpPr/>
          <p:nvPr/>
        </p:nvSpPr>
        <p:spPr>
          <a:xfrm>
            <a:off x="1371600" y="3846215"/>
            <a:ext cx="45720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3502521"/>
            <a:ext cx="5029200" cy="191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读懂 · 第一步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4081165"/>
            <a:ext cx="5029200" cy="255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600"/>
              </a:lnSpc>
              <a:buNone/>
            </a:pPr>
            <a:r>
              <a:rPr lang="en-US" sz="2550" b="1" spc="-38" kern="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拍照即解读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1371600" y="4595515"/>
            <a:ext cx="4709160" cy="1766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0" marL="0">
              <a:lnSpc>
                <a:spcPct val="135000"/>
              </a:lnSpc>
              <a:buNone/>
            </a:pPr>
            <a:r>
              <a:rPr lang="en-US" sz="2175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化验单拍照上传，多模态模型直接转写成结构化指标，逐项对照参考区间判定高低并给出中文解读，不依赖本机 OCR 引擎。</a:t>
            </a:r>
            <a:endParaRPr lang="en-US" sz="2175" dirty="0"/>
          </a:p>
        </p:txBody>
      </p:sp>
      <p:sp>
        <p:nvSpPr>
          <p:cNvPr id="16" name="Shape 14"/>
          <p:cNvSpPr/>
          <p:nvPr/>
        </p:nvSpPr>
        <p:spPr>
          <a:xfrm>
            <a:off x="6858000" y="3846215"/>
            <a:ext cx="45720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0" y="3502521"/>
            <a:ext cx="5029200" cy="191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盯住 · 第二步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858000" y="4081165"/>
            <a:ext cx="5029200" cy="255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600"/>
              </a:lnSpc>
              <a:buNone/>
            </a:pPr>
            <a:r>
              <a:rPr lang="en-US" sz="2550" b="1" spc="-38" kern="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异常自动提醒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6858000" y="4595515"/>
            <a:ext cx="4709160" cy="1766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0" marL="0">
              <a:lnSpc>
                <a:spcPct val="135000"/>
              </a:lnSpc>
              <a:buNone/>
            </a:pPr>
            <a:r>
              <a:rPr lang="en-US" sz="2175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指标写入档案后形成趋势曲线；首页汇总「连续超标」与「偶发异常」两级提醒，最多 6 条，带参考范围与较上次差值。</a:t>
            </a:r>
            <a:endParaRPr lang="en-US" sz="2175" dirty="0"/>
          </a:p>
        </p:txBody>
      </p:sp>
      <p:sp>
        <p:nvSpPr>
          <p:cNvPr id="20" name="Shape 18"/>
          <p:cNvSpPr/>
          <p:nvPr/>
        </p:nvSpPr>
        <p:spPr>
          <a:xfrm>
            <a:off x="12344400" y="3846215"/>
            <a:ext cx="45720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2344400" y="3502521"/>
            <a:ext cx="5029200" cy="191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追问 · 第三步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344400" y="4081165"/>
            <a:ext cx="5029200" cy="255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600"/>
              </a:lnSpc>
              <a:buNone/>
            </a:pPr>
            <a:r>
              <a:rPr lang="en-US" sz="2550" b="1" spc="-38" kern="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带档案追着问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12344400" y="4595515"/>
            <a:ext cx="4709160" cy="1766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0" marL="0">
              <a:lnSpc>
                <a:spcPct val="135000"/>
              </a:lnSpc>
              <a:buNone/>
            </a:pPr>
            <a:r>
              <a:rPr lang="en-US" sz="2175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问答检索 WHO 与国家卫健委的权威语料，流式作答并在正文末尾标注出处；急症关键词先于模型输出弹出就医提示。</a:t>
            </a:r>
            <a:endParaRPr lang="en-US" sz="2175" dirty="0"/>
          </a:p>
        </p:txBody>
      </p:sp>
      <p:sp>
        <p:nvSpPr>
          <p:cNvPr id="24" name="Shape 22"/>
          <p:cNvSpPr/>
          <p:nvPr/>
        </p:nvSpPr>
        <p:spPr>
          <a:xfrm>
            <a:off x="1371600" y="6742708"/>
            <a:ext cx="155448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371600" y="6984008"/>
            <a:ext cx="495300" cy="39241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01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790700" y="6977658"/>
            <a:ext cx="4434459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15"/>
              </a:lnSpc>
              <a:buNone/>
            </a:pPr>
            <a:r>
              <a:rPr lang="en-US" sz="1875" dirty="0">
                <a:solidFill>
                  <a:srgbClr val="201E1D">
                    <a:alpha val="6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三步闭环共用一份健康档案，指标一次写入即同时驱动趋势、提醒与问答上下文。</a:t>
            </a:r>
            <a:endParaRPr lang="en-US" sz="1875" dirty="0"/>
          </a:p>
        </p:txBody>
      </p:sp>
      <p:sp>
        <p:nvSpPr>
          <p:cNvPr id="27" name="Text 25"/>
          <p:cNvSpPr/>
          <p:nvPr/>
        </p:nvSpPr>
        <p:spPr>
          <a:xfrm>
            <a:off x="6781800" y="6984008"/>
            <a:ext cx="495300" cy="39241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02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200900" y="6977658"/>
            <a:ext cx="4434459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15"/>
              </a:lnSpc>
              <a:buNone/>
            </a:pPr>
            <a:r>
              <a:rPr lang="en-US" sz="1875" dirty="0">
                <a:solidFill>
                  <a:srgbClr val="201E1D">
                    <a:alpha val="6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多成员档案支持替父母建档；位置信息一人一条，勾选授权才落库。</a:t>
            </a:r>
            <a:endParaRPr lang="en-US" sz="1875" dirty="0"/>
          </a:p>
        </p:txBody>
      </p:sp>
      <p:sp>
        <p:nvSpPr>
          <p:cNvPr id="29" name="Text 27"/>
          <p:cNvSpPr/>
          <p:nvPr/>
        </p:nvSpPr>
        <p:spPr>
          <a:xfrm>
            <a:off x="12192000" y="6984008"/>
            <a:ext cx="495300" cy="39241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03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2611100" y="6977658"/>
            <a:ext cx="4434459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15"/>
              </a:lnSpc>
              <a:buNone/>
            </a:pPr>
            <a:r>
              <a:rPr lang="en-US" sz="1875" dirty="0">
                <a:solidFill>
                  <a:srgbClr val="201E1D">
                    <a:alpha val="6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全部结论标注「仅供健康科普」，不出具诊断，不替代面诊与处方。</a:t>
            </a:r>
            <a:endParaRPr lang="en-US" sz="1875" dirty="0"/>
          </a:p>
        </p:txBody>
      </p:sp>
      <p:sp>
        <p:nvSpPr>
          <p:cNvPr id="31" name="Shape 29"/>
          <p:cNvSpPr/>
          <p:nvPr/>
        </p:nvSpPr>
        <p:spPr>
          <a:xfrm>
            <a:off x="1371600" y="9079706"/>
            <a:ext cx="155448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1371600" y="9219406"/>
            <a:ext cx="3371681" cy="191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01E1E">
                    <a:alpha val="44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康识问诊 · 技术汇报 · REV.4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6150333" y="9219406"/>
            <a:ext cx="842268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01E1E">
                    <a:alpha val="44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04 / 24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343819"/>
            <a:ext cx="155448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914400"/>
            <a:ext cx="15544800" cy="19050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066800"/>
            <a:ext cx="1538446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01 </a:t>
            </a:r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11F1D">
                    <a:alpha val="52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项目概览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5462449" y="1066800"/>
            <a:ext cx="1599347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11F1D">
                    <a:alpha val="52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关键数据一览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33400" y="4465638"/>
            <a:ext cx="345579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33400" y="4866481"/>
            <a:ext cx="345579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1F1F1F">
                    <a:alpha val="2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33400" y="5267325"/>
            <a:ext cx="345579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1F1F1F">
                    <a:alpha val="2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03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33400" y="5668169"/>
            <a:ext cx="345579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1F1F1F">
                    <a:alpha val="2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04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50963" y="1769269"/>
            <a:ext cx="17121982" cy="4337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69"/>
              </a:lnSpc>
              <a:buNone/>
            </a:pPr>
            <a:r>
              <a:rPr lang="en-US" sz="4650" b="1" spc="-70" kern="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关键数据一览</a:t>
            </a:r>
            <a:endParaRPr lang="en-US" sz="4650" dirty="0"/>
          </a:p>
        </p:txBody>
      </p:sp>
      <p:sp>
        <p:nvSpPr>
          <p:cNvPr id="11" name="Text 9"/>
          <p:cNvSpPr/>
          <p:nvPr/>
        </p:nvSpPr>
        <p:spPr>
          <a:xfrm>
            <a:off x="1371600" y="2936478"/>
            <a:ext cx="5029200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后端 · JAVA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44216" y="3261122"/>
            <a:ext cx="5059323" cy="65077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73096"/>
              </a:lnSpc>
              <a:buNone/>
            </a:pPr>
            <a:r>
              <a:rPr lang="en-US" sz="7200" b="1" spc="-180" kern="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102</a:t>
            </a:r>
            <a:endParaRPr lang="en-US" sz="7200" dirty="0"/>
          </a:p>
        </p:txBody>
      </p:sp>
      <p:sp>
        <p:nvSpPr>
          <p:cNvPr id="13" name="Text 11"/>
          <p:cNvSpPr/>
          <p:nvPr/>
        </p:nvSpPr>
        <p:spPr>
          <a:xfrm>
            <a:off x="1371600" y="4045248"/>
            <a:ext cx="50292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15"/>
              </a:lnSpc>
              <a:buNone/>
            </a:pPr>
            <a:r>
              <a:rPr lang="en-US" sz="1875" dirty="0">
                <a:solidFill>
                  <a:srgbClr val="201F1D">
                    <a:alpha val="62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源文件，其中 rag 包 19 个为最重的一个包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6858000" y="2936478"/>
            <a:ext cx="5029200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前端 · VUE + TS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830616" y="3261122"/>
            <a:ext cx="5059323" cy="65077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73096"/>
              </a:lnSpc>
              <a:buNone/>
            </a:pPr>
            <a:r>
              <a:rPr lang="en-US" sz="7200" b="1" spc="-180" kern="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60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6858000" y="4045248"/>
            <a:ext cx="50292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15"/>
              </a:lnSpc>
              <a:buNone/>
            </a:pPr>
            <a:r>
              <a:rPr lang="en-US" sz="1875" dirty="0">
                <a:solidFill>
                  <a:srgbClr val="201F1D">
                    <a:alpha val="62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源文件，含 12 个接口封装与 18 个组件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12344400" y="2936478"/>
            <a:ext cx="5029200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数据库 · MYSQL 8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317016" y="3261122"/>
            <a:ext cx="5059323" cy="65077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73096"/>
              </a:lnSpc>
              <a:buNone/>
            </a:pPr>
            <a:r>
              <a:rPr lang="en-US" sz="7200" b="1" spc="-180" kern="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14</a:t>
            </a:r>
            <a:endParaRPr lang="en-US" sz="7200" dirty="0"/>
          </a:p>
        </p:txBody>
      </p:sp>
      <p:sp>
        <p:nvSpPr>
          <p:cNvPr id="19" name="Text 17"/>
          <p:cNvSpPr/>
          <p:nvPr/>
        </p:nvSpPr>
        <p:spPr>
          <a:xfrm>
            <a:off x="12344400" y="4045248"/>
            <a:ext cx="470916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15"/>
              </a:lnSpc>
              <a:buNone/>
            </a:pPr>
            <a:r>
              <a:rPr lang="en-US" sz="1875" dirty="0">
                <a:solidFill>
                  <a:srgbClr val="201F1D">
                    <a:alpha val="62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张表，分属用户、问答、档案、报告、知识库五域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1371600" y="5283498"/>
            <a:ext cx="5029200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知识库 · MILVUS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44216" y="5608141"/>
            <a:ext cx="5059323" cy="65077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73096"/>
              </a:lnSpc>
              <a:buNone/>
            </a:pPr>
            <a:r>
              <a:rPr lang="en-US" sz="7200" b="1" spc="-180" kern="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88</a:t>
            </a:r>
            <a:endParaRPr lang="en-US" sz="7200" dirty="0"/>
          </a:p>
        </p:txBody>
      </p:sp>
      <p:sp>
        <p:nvSpPr>
          <p:cNvPr id="22" name="Text 20"/>
          <p:cNvSpPr/>
          <p:nvPr/>
        </p:nvSpPr>
        <p:spPr>
          <a:xfrm>
            <a:off x="1371600" y="6392267"/>
            <a:ext cx="50292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15"/>
              </a:lnSpc>
              <a:buNone/>
            </a:pPr>
            <a:r>
              <a:rPr lang="en-US" sz="1875" dirty="0">
                <a:solidFill>
                  <a:srgbClr val="201F1D">
                    <a:alpha val="62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条向量，256 维 COSINE，HNSW 索引落盘</a:t>
            </a:r>
            <a:endParaRPr lang="en-US" sz="1875" dirty="0"/>
          </a:p>
        </p:txBody>
      </p:sp>
      <p:sp>
        <p:nvSpPr>
          <p:cNvPr id="23" name="Text 21"/>
          <p:cNvSpPr/>
          <p:nvPr/>
        </p:nvSpPr>
        <p:spPr>
          <a:xfrm>
            <a:off x="6858000" y="5283498"/>
            <a:ext cx="5029200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测试 · MVN TEST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830616" y="5608141"/>
            <a:ext cx="5059323" cy="65077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73096"/>
              </a:lnSpc>
              <a:buNone/>
            </a:pPr>
            <a:r>
              <a:rPr lang="en-US" sz="7200" b="1" spc="-180" kern="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94</a:t>
            </a:r>
            <a:endParaRPr lang="en-US" sz="7200" dirty="0"/>
          </a:p>
        </p:txBody>
      </p:sp>
      <p:sp>
        <p:nvSpPr>
          <p:cNvPr id="25" name="Text 23"/>
          <p:cNvSpPr/>
          <p:nvPr/>
        </p:nvSpPr>
        <p:spPr>
          <a:xfrm>
            <a:off x="6858000" y="6392267"/>
            <a:ext cx="470916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15"/>
              </a:lnSpc>
              <a:buNone/>
            </a:pPr>
            <a:r>
              <a:rPr lang="en-US" sz="1875" dirty="0">
                <a:solidFill>
                  <a:srgbClr val="201F1D">
                    <a:alpha val="62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个用例分布在 28 个测试类，四轮改进后全绿</a:t>
            </a:r>
            <a:endParaRPr lang="en-US" sz="1875" dirty="0"/>
          </a:p>
        </p:txBody>
      </p:sp>
      <p:sp>
        <p:nvSpPr>
          <p:cNvPr id="26" name="Text 24"/>
          <p:cNvSpPr/>
          <p:nvPr/>
        </p:nvSpPr>
        <p:spPr>
          <a:xfrm>
            <a:off x="12344400" y="5283498"/>
            <a:ext cx="5029200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多模态 · 实测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2317016" y="5608141"/>
            <a:ext cx="5059323" cy="65077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73096"/>
              </a:lnSpc>
              <a:buNone/>
            </a:pPr>
            <a:r>
              <a:rPr lang="en-US" sz="7200" b="1" spc="-180" kern="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11/11</a:t>
            </a:r>
            <a:endParaRPr lang="en-US" sz="7200" dirty="0"/>
          </a:p>
        </p:txBody>
      </p:sp>
      <p:sp>
        <p:nvSpPr>
          <p:cNvPr id="28" name="Text 26"/>
          <p:cNvSpPr/>
          <p:nvPr/>
        </p:nvSpPr>
        <p:spPr>
          <a:xfrm>
            <a:off x="12344400" y="6392267"/>
            <a:ext cx="50292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15"/>
              </a:lnSpc>
              <a:buNone/>
            </a:pPr>
            <a:r>
              <a:rPr lang="en-US" sz="1875" dirty="0">
                <a:solidFill>
                  <a:srgbClr val="201F1D">
                    <a:alpha val="62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项化验单指标全部正确识别并判定高低</a:t>
            </a:r>
            <a:endParaRPr lang="en-US" sz="1875" dirty="0"/>
          </a:p>
        </p:txBody>
      </p:sp>
      <p:sp>
        <p:nvSpPr>
          <p:cNvPr id="29" name="Shape 27"/>
          <p:cNvSpPr/>
          <p:nvPr/>
        </p:nvSpPr>
        <p:spPr>
          <a:xfrm>
            <a:off x="1371600" y="7535267"/>
            <a:ext cx="155448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1371600" y="7776567"/>
            <a:ext cx="495300" cy="39241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01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790700" y="7770218"/>
            <a:ext cx="4434459" cy="1123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15"/>
              </a:lnSpc>
              <a:buNone/>
            </a:pPr>
            <a:r>
              <a:rPr lang="en-US" sz="1875" dirty="0">
                <a:solidFill>
                  <a:srgbClr val="201E1D">
                    <a:alpha val="6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源文件计数仅含 src/main 下的 .java 与前端 src 下的 .ts/.vue，不含测试与配置。</a:t>
            </a:r>
            <a:endParaRPr lang="en-US" sz="1875" dirty="0"/>
          </a:p>
        </p:txBody>
      </p:sp>
      <p:sp>
        <p:nvSpPr>
          <p:cNvPr id="32" name="Text 30"/>
          <p:cNvSpPr/>
          <p:nvPr/>
        </p:nvSpPr>
        <p:spPr>
          <a:xfrm>
            <a:off x="6781800" y="7776567"/>
            <a:ext cx="495300" cy="39241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02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200900" y="7770218"/>
            <a:ext cx="4434459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15"/>
              </a:lnSpc>
              <a:buNone/>
            </a:pPr>
            <a:r>
              <a:rPr lang="en-US" sz="1875" dirty="0">
                <a:solidFill>
                  <a:srgbClr val="201E1D">
                    <a:alpha val="6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88 条向量来自 12 个权威源，按 600 字切分、重叠 80 字后入库。</a:t>
            </a:r>
            <a:endParaRPr lang="en-US" sz="1875" dirty="0"/>
          </a:p>
        </p:txBody>
      </p:sp>
      <p:sp>
        <p:nvSpPr>
          <p:cNvPr id="34" name="Text 32"/>
          <p:cNvSpPr/>
          <p:nvPr/>
        </p:nvSpPr>
        <p:spPr>
          <a:xfrm>
            <a:off x="12192000" y="7776567"/>
            <a:ext cx="495300" cy="39241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03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2611100" y="7770218"/>
            <a:ext cx="4434459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15"/>
              </a:lnSpc>
              <a:buNone/>
            </a:pPr>
            <a:r>
              <a:rPr lang="en-US" sz="1875" dirty="0">
                <a:solidFill>
                  <a:srgbClr val="201E1D">
                    <a:alpha val="6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94 个用例为第四轮改进后的数量，起点是 20 个，见第 23 页图 8。</a:t>
            </a:r>
            <a:endParaRPr lang="en-US" sz="1875" dirty="0"/>
          </a:p>
        </p:txBody>
      </p:sp>
      <p:sp>
        <p:nvSpPr>
          <p:cNvPr id="36" name="Shape 34"/>
          <p:cNvSpPr/>
          <p:nvPr/>
        </p:nvSpPr>
        <p:spPr>
          <a:xfrm>
            <a:off x="1371600" y="9079706"/>
            <a:ext cx="155448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1371600" y="9219406"/>
            <a:ext cx="3371681" cy="191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01E1E">
                    <a:alpha val="44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康识问诊 · 技术汇报 · REV.4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6150333" y="9219406"/>
            <a:ext cx="842268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01E1E">
                    <a:alpha val="44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05 / 24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343819"/>
            <a:ext cx="155448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914400"/>
            <a:ext cx="15544800" cy="19050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066800"/>
            <a:ext cx="1538446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01 </a:t>
            </a:r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11F1D">
                    <a:alpha val="52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项目概览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5462449" y="1066800"/>
            <a:ext cx="1599347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11F1D">
                    <a:alpha val="52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功能模块一览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33400" y="4465638"/>
            <a:ext cx="345579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33400" y="4866481"/>
            <a:ext cx="345579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1F1F1F">
                    <a:alpha val="2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33400" y="5267325"/>
            <a:ext cx="345579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1F1F1F">
                    <a:alpha val="2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03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33400" y="5668169"/>
            <a:ext cx="345579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1F1F1F">
                    <a:alpha val="2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04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50963" y="1769269"/>
            <a:ext cx="17121982" cy="4337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69"/>
              </a:lnSpc>
              <a:buNone/>
            </a:pPr>
            <a:r>
              <a:rPr lang="en-US" sz="4650" b="1" spc="-70" kern="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功能模块一览</a:t>
            </a:r>
            <a:endParaRPr lang="en-US" sz="4650" dirty="0"/>
          </a:p>
        </p:txBody>
      </p:sp>
      <p:sp>
        <p:nvSpPr>
          <p:cNvPr id="11" name="Text 9"/>
          <p:cNvSpPr/>
          <p:nvPr/>
        </p:nvSpPr>
        <p:spPr>
          <a:xfrm>
            <a:off x="1371600" y="2584053"/>
            <a:ext cx="521097" cy="39241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表 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045097" y="2684859"/>
            <a:ext cx="9504948" cy="191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01E1E">
                    <a:alpha val="50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九个功能模块与关键实现 · 输入上限：图片 4 张、问题 500 字、CSV 单次 500 条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708856" y="2684859"/>
            <a:ext cx="3528298" cy="191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01E1E">
                    <a:alpha val="50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来源 · controller 层接口清单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371600" y="3959523"/>
            <a:ext cx="1121866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600200" y="3695410"/>
            <a:ext cx="740866" cy="18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b="1" spc="108" kern="0" dirty="0">
                <a:solidFill>
                  <a:srgbClr val="201E1C">
                    <a:alpha val="60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序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493466" y="3959523"/>
            <a:ext cx="2983409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2722066" y="3695410"/>
            <a:ext cx="2615711" cy="18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b="1" spc="108" kern="0" dirty="0">
                <a:solidFill>
                  <a:srgbClr val="201E1C">
                    <a:alpha val="60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模块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76875" y="3959523"/>
            <a:ext cx="685552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705475" y="3695410"/>
            <a:ext cx="6603986" cy="18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b="1" spc="108" kern="0" dirty="0">
                <a:solidFill>
                  <a:srgbClr val="201E1C">
                    <a:alpha val="60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核心能力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2332395" y="3959523"/>
            <a:ext cx="4584006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2560995" y="3695410"/>
            <a:ext cx="4264326" cy="18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b="1" spc="108" kern="0" dirty="0">
                <a:solidFill>
                  <a:srgbClr val="201E1C">
                    <a:alpha val="60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关键实现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371600" y="4347071"/>
            <a:ext cx="1121866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600200" y="4076791"/>
            <a:ext cx="740866" cy="197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E">
                    <a:alpha val="40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01</a:t>
            </a:r>
            <a:endParaRPr lang="en-US" sz="1875" dirty="0"/>
          </a:p>
        </p:txBody>
      </p:sp>
      <p:sp>
        <p:nvSpPr>
          <p:cNvPr id="24" name="Shape 22"/>
          <p:cNvSpPr/>
          <p:nvPr/>
        </p:nvSpPr>
        <p:spPr>
          <a:xfrm>
            <a:off x="2493466" y="4347071"/>
            <a:ext cx="2983409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2722066" y="4076791"/>
            <a:ext cx="2615711" cy="197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智能健康问答</a:t>
            </a:r>
            <a:endParaRPr lang="en-US" sz="1875" dirty="0"/>
          </a:p>
        </p:txBody>
      </p:sp>
      <p:sp>
        <p:nvSpPr>
          <p:cNvPr id="26" name="Shape 24"/>
          <p:cNvSpPr/>
          <p:nvPr/>
        </p:nvSpPr>
        <p:spPr>
          <a:xfrm>
            <a:off x="5476875" y="4347071"/>
            <a:ext cx="6855520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5705475" y="4076791"/>
            <a:ext cx="6603986" cy="197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RAG 检索 + SSE 流式作答，标注出处</a:t>
            </a:r>
            <a:endParaRPr lang="en-US" sz="1875" dirty="0"/>
          </a:p>
        </p:txBody>
      </p:sp>
      <p:sp>
        <p:nvSpPr>
          <p:cNvPr id="28" name="Shape 26"/>
          <p:cNvSpPr/>
          <p:nvPr/>
        </p:nvSpPr>
        <p:spPr>
          <a:xfrm>
            <a:off x="12332395" y="4347071"/>
            <a:ext cx="4584006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2560995" y="4076791"/>
            <a:ext cx="4264326" cy="1974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00678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LangChain4j 流水线</a:t>
            </a:r>
            <a:endParaRPr lang="en-US" sz="1875" dirty="0"/>
          </a:p>
        </p:txBody>
      </p:sp>
      <p:sp>
        <p:nvSpPr>
          <p:cNvPr id="30" name="Shape 28"/>
          <p:cNvSpPr/>
          <p:nvPr/>
        </p:nvSpPr>
        <p:spPr>
          <a:xfrm>
            <a:off x="1371600" y="4734620"/>
            <a:ext cx="1121866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1600200" y="4464340"/>
            <a:ext cx="740866" cy="197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E">
                    <a:alpha val="40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02</a:t>
            </a:r>
            <a:endParaRPr lang="en-US" sz="1875" dirty="0"/>
          </a:p>
        </p:txBody>
      </p:sp>
      <p:sp>
        <p:nvSpPr>
          <p:cNvPr id="32" name="Shape 30"/>
          <p:cNvSpPr/>
          <p:nvPr/>
        </p:nvSpPr>
        <p:spPr>
          <a:xfrm>
            <a:off x="2493466" y="4734620"/>
            <a:ext cx="2983409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2722066" y="4464340"/>
            <a:ext cx="2615711" cy="197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报告解读</a:t>
            </a:r>
            <a:endParaRPr lang="en-US" sz="1875" dirty="0"/>
          </a:p>
        </p:txBody>
      </p:sp>
      <p:sp>
        <p:nvSpPr>
          <p:cNvPr id="34" name="Shape 32"/>
          <p:cNvSpPr/>
          <p:nvPr/>
        </p:nvSpPr>
        <p:spPr>
          <a:xfrm>
            <a:off x="5476875" y="4734620"/>
            <a:ext cx="6855520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5705475" y="4464340"/>
            <a:ext cx="6603986" cy="197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PDF / Word / txt 解析，图片走转写</a:t>
            </a:r>
            <a:endParaRPr lang="en-US" sz="1875" dirty="0"/>
          </a:p>
        </p:txBody>
      </p:sp>
      <p:sp>
        <p:nvSpPr>
          <p:cNvPr id="36" name="Shape 34"/>
          <p:cNvSpPr/>
          <p:nvPr/>
        </p:nvSpPr>
        <p:spPr>
          <a:xfrm>
            <a:off x="12332395" y="4734620"/>
            <a:ext cx="4584006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12560995" y="4464340"/>
            <a:ext cx="4264326" cy="1974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00678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Tika + 多模态模型</a:t>
            </a:r>
            <a:endParaRPr lang="en-US" sz="1875" dirty="0"/>
          </a:p>
        </p:txBody>
      </p:sp>
      <p:sp>
        <p:nvSpPr>
          <p:cNvPr id="38" name="Shape 36"/>
          <p:cNvSpPr/>
          <p:nvPr/>
        </p:nvSpPr>
        <p:spPr>
          <a:xfrm>
            <a:off x="1371600" y="5122168"/>
            <a:ext cx="1121866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1600200" y="4851888"/>
            <a:ext cx="740866" cy="197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E">
                    <a:alpha val="40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03</a:t>
            </a:r>
            <a:endParaRPr lang="en-US" sz="1875" dirty="0"/>
          </a:p>
        </p:txBody>
      </p:sp>
      <p:sp>
        <p:nvSpPr>
          <p:cNvPr id="40" name="Shape 38"/>
          <p:cNvSpPr/>
          <p:nvPr/>
        </p:nvSpPr>
        <p:spPr>
          <a:xfrm>
            <a:off x="2493466" y="5122168"/>
            <a:ext cx="2983409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2722066" y="4851888"/>
            <a:ext cx="2615711" cy="197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健康档案</a:t>
            </a:r>
            <a:endParaRPr lang="en-US" sz="1875" dirty="0"/>
          </a:p>
        </p:txBody>
      </p:sp>
      <p:sp>
        <p:nvSpPr>
          <p:cNvPr id="42" name="Shape 40"/>
          <p:cNvSpPr/>
          <p:nvPr/>
        </p:nvSpPr>
        <p:spPr>
          <a:xfrm>
            <a:off x="5476875" y="5122168"/>
            <a:ext cx="6855520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5705475" y="4851888"/>
            <a:ext cx="6603986" cy="197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多成员档案、指标趋势、超标提醒</a:t>
            </a:r>
            <a:endParaRPr lang="en-US" sz="1875" dirty="0"/>
          </a:p>
        </p:txBody>
      </p:sp>
      <p:sp>
        <p:nvSpPr>
          <p:cNvPr id="44" name="Shape 42"/>
          <p:cNvSpPr/>
          <p:nvPr/>
        </p:nvSpPr>
        <p:spPr>
          <a:xfrm>
            <a:off x="12332395" y="5122168"/>
            <a:ext cx="4584006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12560995" y="4851888"/>
            <a:ext cx="4264326" cy="1974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ECharts + 趋势分析器</a:t>
            </a:r>
            <a:endParaRPr lang="en-US" sz="1875" dirty="0"/>
          </a:p>
        </p:txBody>
      </p:sp>
      <p:sp>
        <p:nvSpPr>
          <p:cNvPr id="46" name="Shape 44"/>
          <p:cNvSpPr/>
          <p:nvPr/>
        </p:nvSpPr>
        <p:spPr>
          <a:xfrm>
            <a:off x="1371600" y="5509717"/>
            <a:ext cx="1121866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1600200" y="5239437"/>
            <a:ext cx="740866" cy="197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E">
                    <a:alpha val="40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04</a:t>
            </a:r>
            <a:endParaRPr lang="en-US" sz="1875" dirty="0"/>
          </a:p>
        </p:txBody>
      </p:sp>
      <p:sp>
        <p:nvSpPr>
          <p:cNvPr id="48" name="Shape 46"/>
          <p:cNvSpPr/>
          <p:nvPr/>
        </p:nvSpPr>
        <p:spPr>
          <a:xfrm>
            <a:off x="2493466" y="5509717"/>
            <a:ext cx="2983409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2722066" y="5239437"/>
            <a:ext cx="2615711" cy="197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异常提醒中心</a:t>
            </a:r>
            <a:endParaRPr lang="en-US" sz="1875" dirty="0"/>
          </a:p>
        </p:txBody>
      </p:sp>
      <p:sp>
        <p:nvSpPr>
          <p:cNvPr id="50" name="Shape 48"/>
          <p:cNvSpPr/>
          <p:nvPr/>
        </p:nvSpPr>
        <p:spPr>
          <a:xfrm>
            <a:off x="5476875" y="5509717"/>
            <a:ext cx="6855520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5705475" y="5239437"/>
            <a:ext cx="6603986" cy="197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跨档案汇总需复查与待观察两级</a:t>
            </a:r>
            <a:endParaRPr lang="en-US" sz="1875" dirty="0"/>
          </a:p>
        </p:txBody>
      </p:sp>
      <p:sp>
        <p:nvSpPr>
          <p:cNvPr id="52" name="Shape 50"/>
          <p:cNvSpPr/>
          <p:nvPr/>
        </p:nvSpPr>
        <p:spPr>
          <a:xfrm>
            <a:off x="12332395" y="5509717"/>
            <a:ext cx="4584006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12560995" y="5239437"/>
            <a:ext cx="4264326" cy="1974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MetricTrendAnalyzer</a:t>
            </a:r>
            <a:endParaRPr lang="en-US" sz="1875" dirty="0"/>
          </a:p>
        </p:txBody>
      </p:sp>
      <p:sp>
        <p:nvSpPr>
          <p:cNvPr id="54" name="Shape 52"/>
          <p:cNvSpPr/>
          <p:nvPr/>
        </p:nvSpPr>
        <p:spPr>
          <a:xfrm>
            <a:off x="1371600" y="5897265"/>
            <a:ext cx="1121866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1600200" y="5626985"/>
            <a:ext cx="740866" cy="197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E">
                    <a:alpha val="40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05</a:t>
            </a:r>
            <a:endParaRPr lang="en-US" sz="1875" dirty="0"/>
          </a:p>
        </p:txBody>
      </p:sp>
      <p:sp>
        <p:nvSpPr>
          <p:cNvPr id="56" name="Shape 54"/>
          <p:cNvSpPr/>
          <p:nvPr/>
        </p:nvSpPr>
        <p:spPr>
          <a:xfrm>
            <a:off x="2493466" y="5897265"/>
            <a:ext cx="2983409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2722066" y="5626985"/>
            <a:ext cx="2615711" cy="197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指标批量导入</a:t>
            </a:r>
            <a:endParaRPr lang="en-US" sz="1875" dirty="0"/>
          </a:p>
        </p:txBody>
      </p:sp>
      <p:sp>
        <p:nvSpPr>
          <p:cNvPr id="58" name="Shape 56"/>
          <p:cNvSpPr/>
          <p:nvPr/>
        </p:nvSpPr>
        <p:spPr>
          <a:xfrm>
            <a:off x="5476875" y="5897265"/>
            <a:ext cx="6855520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5705475" y="5626985"/>
            <a:ext cx="6603986" cy="197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浏览器端预览与脏行标注，≤ 500 条</a:t>
            </a:r>
            <a:endParaRPr lang="en-US" sz="1875" dirty="0"/>
          </a:p>
        </p:txBody>
      </p:sp>
      <p:sp>
        <p:nvSpPr>
          <p:cNvPr id="60" name="Shape 58"/>
          <p:cNvSpPr/>
          <p:nvPr/>
        </p:nvSpPr>
        <p:spPr>
          <a:xfrm>
            <a:off x="12332395" y="5897265"/>
            <a:ext cx="4584006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12560995" y="5626985"/>
            <a:ext cx="4264326" cy="1974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英文指标名自动归一</a:t>
            </a:r>
            <a:endParaRPr lang="en-US" sz="1875" dirty="0"/>
          </a:p>
        </p:txBody>
      </p:sp>
      <p:sp>
        <p:nvSpPr>
          <p:cNvPr id="62" name="Shape 60"/>
          <p:cNvSpPr/>
          <p:nvPr/>
        </p:nvSpPr>
        <p:spPr>
          <a:xfrm>
            <a:off x="1371600" y="6284814"/>
            <a:ext cx="1121866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1600200" y="6014534"/>
            <a:ext cx="740866" cy="197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E">
                    <a:alpha val="40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06</a:t>
            </a:r>
            <a:endParaRPr lang="en-US" sz="1875" dirty="0"/>
          </a:p>
        </p:txBody>
      </p:sp>
      <p:sp>
        <p:nvSpPr>
          <p:cNvPr id="64" name="Shape 62"/>
          <p:cNvSpPr/>
          <p:nvPr/>
        </p:nvSpPr>
        <p:spPr>
          <a:xfrm>
            <a:off x="2493466" y="6284814"/>
            <a:ext cx="2983409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2722066" y="6014534"/>
            <a:ext cx="2615711" cy="197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知识库管理</a:t>
            </a:r>
            <a:endParaRPr lang="en-US" sz="1875" dirty="0"/>
          </a:p>
        </p:txBody>
      </p:sp>
      <p:sp>
        <p:nvSpPr>
          <p:cNvPr id="66" name="Shape 64"/>
          <p:cNvSpPr/>
          <p:nvPr/>
        </p:nvSpPr>
        <p:spPr>
          <a:xfrm>
            <a:off x="5476875" y="6284814"/>
            <a:ext cx="6855520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5705475" y="6014534"/>
            <a:ext cx="6603986" cy="197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启动同步官方文本，可上传与重索引</a:t>
            </a:r>
            <a:endParaRPr lang="en-US" sz="1875" dirty="0"/>
          </a:p>
        </p:txBody>
      </p:sp>
      <p:sp>
        <p:nvSpPr>
          <p:cNvPr id="68" name="Shape 66"/>
          <p:cNvSpPr/>
          <p:nvPr/>
        </p:nvSpPr>
        <p:spPr>
          <a:xfrm>
            <a:off x="12332395" y="6284814"/>
            <a:ext cx="4584006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69" name="Text 67"/>
          <p:cNvSpPr/>
          <p:nvPr/>
        </p:nvSpPr>
        <p:spPr>
          <a:xfrm>
            <a:off x="12560995" y="6014534"/>
            <a:ext cx="4264326" cy="1974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00678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切分 + 向量化入库</a:t>
            </a:r>
            <a:endParaRPr lang="en-US" sz="1875" dirty="0"/>
          </a:p>
        </p:txBody>
      </p:sp>
      <p:sp>
        <p:nvSpPr>
          <p:cNvPr id="70" name="Shape 68"/>
          <p:cNvSpPr/>
          <p:nvPr/>
        </p:nvSpPr>
        <p:spPr>
          <a:xfrm>
            <a:off x="1371600" y="6672362"/>
            <a:ext cx="1121866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71" name="Text 69"/>
          <p:cNvSpPr/>
          <p:nvPr/>
        </p:nvSpPr>
        <p:spPr>
          <a:xfrm>
            <a:off x="1600200" y="6402082"/>
            <a:ext cx="740866" cy="197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E">
                    <a:alpha val="40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07</a:t>
            </a:r>
            <a:endParaRPr lang="en-US" sz="1875" dirty="0"/>
          </a:p>
        </p:txBody>
      </p:sp>
      <p:sp>
        <p:nvSpPr>
          <p:cNvPr id="72" name="Shape 70"/>
          <p:cNvSpPr/>
          <p:nvPr/>
        </p:nvSpPr>
        <p:spPr>
          <a:xfrm>
            <a:off x="2493466" y="6672362"/>
            <a:ext cx="2983409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73" name="Text 71"/>
          <p:cNvSpPr/>
          <p:nvPr/>
        </p:nvSpPr>
        <p:spPr>
          <a:xfrm>
            <a:off x="2722066" y="6402082"/>
            <a:ext cx="2615711" cy="197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科室导诊</a:t>
            </a:r>
            <a:endParaRPr lang="en-US" sz="1875" dirty="0"/>
          </a:p>
        </p:txBody>
      </p:sp>
      <p:sp>
        <p:nvSpPr>
          <p:cNvPr id="74" name="Shape 72"/>
          <p:cNvSpPr/>
          <p:nvPr/>
        </p:nvSpPr>
        <p:spPr>
          <a:xfrm>
            <a:off x="5476875" y="6672362"/>
            <a:ext cx="6855520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75" name="Text 73"/>
          <p:cNvSpPr/>
          <p:nvPr/>
        </p:nvSpPr>
        <p:spPr>
          <a:xfrm>
            <a:off x="5705475" y="6402082"/>
            <a:ext cx="6603986" cy="197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规则 + 向量检索定科，急症直达</a:t>
            </a:r>
            <a:endParaRPr lang="en-US" sz="1875" dirty="0"/>
          </a:p>
        </p:txBody>
      </p:sp>
      <p:sp>
        <p:nvSpPr>
          <p:cNvPr id="76" name="Shape 74"/>
          <p:cNvSpPr/>
          <p:nvPr/>
        </p:nvSpPr>
        <p:spPr>
          <a:xfrm>
            <a:off x="12332395" y="6672362"/>
            <a:ext cx="4584006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77" name="Text 75"/>
          <p:cNvSpPr/>
          <p:nvPr/>
        </p:nvSpPr>
        <p:spPr>
          <a:xfrm>
            <a:off x="12560995" y="6402082"/>
            <a:ext cx="4264326" cy="1974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EmergencyRules 共用</a:t>
            </a:r>
            <a:endParaRPr lang="en-US" sz="1875" dirty="0"/>
          </a:p>
        </p:txBody>
      </p:sp>
      <p:sp>
        <p:nvSpPr>
          <p:cNvPr id="78" name="Shape 76"/>
          <p:cNvSpPr/>
          <p:nvPr/>
        </p:nvSpPr>
        <p:spPr>
          <a:xfrm>
            <a:off x="1371600" y="7059911"/>
            <a:ext cx="1121866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79" name="Text 77"/>
          <p:cNvSpPr/>
          <p:nvPr/>
        </p:nvSpPr>
        <p:spPr>
          <a:xfrm>
            <a:off x="1600200" y="6789631"/>
            <a:ext cx="740866" cy="197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E">
                    <a:alpha val="40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08</a:t>
            </a:r>
            <a:endParaRPr lang="en-US" sz="1875" dirty="0"/>
          </a:p>
        </p:txBody>
      </p:sp>
      <p:sp>
        <p:nvSpPr>
          <p:cNvPr id="80" name="Shape 78"/>
          <p:cNvSpPr/>
          <p:nvPr/>
        </p:nvSpPr>
        <p:spPr>
          <a:xfrm>
            <a:off x="2493466" y="7059911"/>
            <a:ext cx="2983409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81" name="Text 79"/>
          <p:cNvSpPr/>
          <p:nvPr/>
        </p:nvSpPr>
        <p:spPr>
          <a:xfrm>
            <a:off x="2722066" y="6789631"/>
            <a:ext cx="2615711" cy="197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附近医疗资源</a:t>
            </a:r>
            <a:endParaRPr lang="en-US" sz="1875" dirty="0"/>
          </a:p>
        </p:txBody>
      </p:sp>
      <p:sp>
        <p:nvSpPr>
          <p:cNvPr id="82" name="Shape 80"/>
          <p:cNvSpPr/>
          <p:nvPr/>
        </p:nvSpPr>
        <p:spPr>
          <a:xfrm>
            <a:off x="5476875" y="7059911"/>
            <a:ext cx="6855520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83" name="Text 81"/>
          <p:cNvSpPr/>
          <p:nvPr/>
        </p:nvSpPr>
        <p:spPr>
          <a:xfrm>
            <a:off x="5705475" y="6789631"/>
            <a:ext cx="6603986" cy="197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3 公里内真实医院与药房</a:t>
            </a:r>
            <a:endParaRPr lang="en-US" sz="1875" dirty="0"/>
          </a:p>
        </p:txBody>
      </p:sp>
      <p:sp>
        <p:nvSpPr>
          <p:cNvPr id="84" name="Shape 82"/>
          <p:cNvSpPr/>
          <p:nvPr/>
        </p:nvSpPr>
        <p:spPr>
          <a:xfrm>
            <a:off x="12332395" y="7059911"/>
            <a:ext cx="4584006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85" name="Text 83"/>
          <p:cNvSpPr/>
          <p:nvPr/>
        </p:nvSpPr>
        <p:spPr>
          <a:xfrm>
            <a:off x="12560995" y="6789631"/>
            <a:ext cx="4264326" cy="1974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高德周边检索</a:t>
            </a:r>
            <a:endParaRPr lang="en-US" sz="1875" dirty="0"/>
          </a:p>
        </p:txBody>
      </p:sp>
      <p:sp>
        <p:nvSpPr>
          <p:cNvPr id="86" name="Shape 84"/>
          <p:cNvSpPr/>
          <p:nvPr/>
        </p:nvSpPr>
        <p:spPr>
          <a:xfrm>
            <a:off x="1371600" y="7447459"/>
            <a:ext cx="1121866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87" name="Text 85"/>
          <p:cNvSpPr/>
          <p:nvPr/>
        </p:nvSpPr>
        <p:spPr>
          <a:xfrm>
            <a:off x="1600200" y="7177179"/>
            <a:ext cx="740866" cy="197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E">
                    <a:alpha val="40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09</a:t>
            </a:r>
            <a:endParaRPr lang="en-US" sz="1875" dirty="0"/>
          </a:p>
        </p:txBody>
      </p:sp>
      <p:sp>
        <p:nvSpPr>
          <p:cNvPr id="88" name="Shape 86"/>
          <p:cNvSpPr/>
          <p:nvPr/>
        </p:nvSpPr>
        <p:spPr>
          <a:xfrm>
            <a:off x="2493466" y="7447459"/>
            <a:ext cx="2983409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89" name="Text 87"/>
          <p:cNvSpPr/>
          <p:nvPr/>
        </p:nvSpPr>
        <p:spPr>
          <a:xfrm>
            <a:off x="2722066" y="7177179"/>
            <a:ext cx="2615711" cy="197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首页健康新闻</a:t>
            </a:r>
            <a:endParaRPr lang="en-US" sz="1875" dirty="0"/>
          </a:p>
        </p:txBody>
      </p:sp>
      <p:sp>
        <p:nvSpPr>
          <p:cNvPr id="90" name="Shape 88"/>
          <p:cNvSpPr/>
          <p:nvPr/>
        </p:nvSpPr>
        <p:spPr>
          <a:xfrm>
            <a:off x="5476875" y="7447459"/>
            <a:ext cx="6855520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91" name="Text 89"/>
          <p:cNvSpPr/>
          <p:nvPr/>
        </p:nvSpPr>
        <p:spPr>
          <a:xfrm>
            <a:off x="5705475" y="7177179"/>
            <a:ext cx="6603986" cy="197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每 6 小时爬取 WHO，库留 30 条</a:t>
            </a:r>
            <a:endParaRPr lang="en-US" sz="1875" dirty="0"/>
          </a:p>
        </p:txBody>
      </p:sp>
      <p:sp>
        <p:nvSpPr>
          <p:cNvPr id="92" name="Shape 90"/>
          <p:cNvSpPr/>
          <p:nvPr/>
        </p:nvSpPr>
        <p:spPr>
          <a:xfrm>
            <a:off x="12332395" y="7447459"/>
            <a:ext cx="4584006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93" name="Text 91"/>
          <p:cNvSpPr/>
          <p:nvPr/>
        </p:nvSpPr>
        <p:spPr>
          <a:xfrm>
            <a:off x="12560995" y="7177179"/>
            <a:ext cx="4264326" cy="1974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断网回落内置快照</a:t>
            </a:r>
            <a:endParaRPr lang="en-US" sz="1875" dirty="0"/>
          </a:p>
        </p:txBody>
      </p:sp>
      <p:sp>
        <p:nvSpPr>
          <p:cNvPr id="94" name="Shape 92"/>
          <p:cNvSpPr/>
          <p:nvPr/>
        </p:nvSpPr>
        <p:spPr>
          <a:xfrm>
            <a:off x="1371600" y="9079706"/>
            <a:ext cx="155448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95" name="Text 93"/>
          <p:cNvSpPr/>
          <p:nvPr/>
        </p:nvSpPr>
        <p:spPr>
          <a:xfrm>
            <a:off x="1371600" y="9219406"/>
            <a:ext cx="8884593" cy="191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01E1E">
                    <a:alpha val="44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九个模块共用统一响应与分页约定 · 越权访问在 service 层按 user_id 拦截</a:t>
            </a:r>
            <a:endParaRPr lang="en-US" sz="1800" dirty="0"/>
          </a:p>
        </p:txBody>
      </p:sp>
      <p:sp>
        <p:nvSpPr>
          <p:cNvPr id="96" name="Text 94"/>
          <p:cNvSpPr/>
          <p:nvPr/>
        </p:nvSpPr>
        <p:spPr>
          <a:xfrm>
            <a:off x="16150333" y="9219406"/>
            <a:ext cx="842268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01E1E">
                    <a:alpha val="44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06 / 24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343819"/>
            <a:ext cx="155448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914400"/>
            <a:ext cx="15544800" cy="19050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066800"/>
            <a:ext cx="1538446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01 </a:t>
            </a:r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11F1D">
                    <a:alpha val="52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项目概览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5462449" y="1066800"/>
            <a:ext cx="1599347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11F1D">
                    <a:alpha val="52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系统分层架构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33400" y="4465638"/>
            <a:ext cx="345579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33400" y="4866481"/>
            <a:ext cx="345579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1F1F1F">
                    <a:alpha val="2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33400" y="5267325"/>
            <a:ext cx="345579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1F1F1F">
                    <a:alpha val="2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03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33400" y="5668169"/>
            <a:ext cx="345579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1F1F1F">
                    <a:alpha val="2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04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50963" y="1769269"/>
            <a:ext cx="17121982" cy="4337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69"/>
              </a:lnSpc>
              <a:buNone/>
            </a:pPr>
            <a:r>
              <a:rPr lang="en-US" sz="4650" b="1" spc="-70" kern="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系统分层架构</a:t>
            </a:r>
            <a:endParaRPr lang="en-US" sz="4650" dirty="0"/>
          </a:p>
        </p:txBody>
      </p:sp>
      <p:sp>
        <p:nvSpPr>
          <p:cNvPr id="11" name="Text 9"/>
          <p:cNvSpPr/>
          <p:nvPr/>
        </p:nvSpPr>
        <p:spPr>
          <a:xfrm>
            <a:off x="1371600" y="2584053"/>
            <a:ext cx="521097" cy="39241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图 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045097" y="2684859"/>
            <a:ext cx="4448899" cy="191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01E1E">
                    <a:alpha val="50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五层单向依赖，青色两层为 AI 能力层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001577" y="2684859"/>
            <a:ext cx="2106305" cy="191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01E1E">
                    <a:alpha val="50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来源 · 后端包结构</a:t>
            </a:r>
            <a:endParaRPr lang="en-US" sz="18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71600" y="3166963"/>
            <a:ext cx="15544800" cy="40005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1371600" y="7586564"/>
            <a:ext cx="155448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1371600" y="7827863"/>
            <a:ext cx="495300" cy="39241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01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790700" y="7821513"/>
            <a:ext cx="4434459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15"/>
              </a:lnSpc>
              <a:buNone/>
            </a:pPr>
            <a:r>
              <a:rPr lang="en-US" sz="1875" dirty="0">
                <a:solidFill>
                  <a:srgbClr val="201E1D">
                    <a:alpha val="6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依赖单向：上层可调下层，反向不可，由包结构与构造注入约束。</a:t>
            </a:r>
            <a:endParaRPr lang="en-US" sz="1875" dirty="0"/>
          </a:p>
        </p:txBody>
      </p:sp>
      <p:sp>
        <p:nvSpPr>
          <p:cNvPr id="18" name="Text 15"/>
          <p:cNvSpPr/>
          <p:nvPr/>
        </p:nvSpPr>
        <p:spPr>
          <a:xfrm>
            <a:off x="6781800" y="7827863"/>
            <a:ext cx="495300" cy="39241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02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7200900" y="7821513"/>
            <a:ext cx="4434459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15"/>
              </a:lnSpc>
              <a:buNone/>
            </a:pPr>
            <a:r>
              <a:rPr lang="en-US" sz="1875" dirty="0">
                <a:solidFill>
                  <a:srgbClr val="201E1D">
                    <a:alpha val="6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对话层与检索层均面向接口编程，实现类由配置决定，缺省即进入降级路径。</a:t>
            </a:r>
            <a:endParaRPr lang="en-US" sz="1875" dirty="0"/>
          </a:p>
        </p:txBody>
      </p:sp>
      <p:sp>
        <p:nvSpPr>
          <p:cNvPr id="20" name="Text 17"/>
          <p:cNvSpPr/>
          <p:nvPr/>
        </p:nvSpPr>
        <p:spPr>
          <a:xfrm>
            <a:off x="12192000" y="7827863"/>
            <a:ext cx="495300" cy="39241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2611100" y="7821513"/>
            <a:ext cx="4434459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15"/>
              </a:lnSpc>
              <a:buNone/>
            </a:pPr>
            <a:r>
              <a:rPr lang="en-US" sz="1875" dirty="0">
                <a:solidFill>
                  <a:srgbClr val="201E1D">
                    <a:alpha val="6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存储层除 MySQL 外全部可缺省，六条降级路径见第 19 页表 4。</a:t>
            </a:r>
            <a:endParaRPr lang="en-US" sz="1875" dirty="0"/>
          </a:p>
        </p:txBody>
      </p:sp>
      <p:sp>
        <p:nvSpPr>
          <p:cNvPr id="22" name="Shape 19"/>
          <p:cNvSpPr/>
          <p:nvPr/>
        </p:nvSpPr>
        <p:spPr>
          <a:xfrm>
            <a:off x="1371600" y="9079706"/>
            <a:ext cx="155448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1371600" y="9219406"/>
            <a:ext cx="3371681" cy="191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01E1E">
                    <a:alpha val="44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康识问诊 · 技术汇报 · REV.4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16150333" y="9219406"/>
            <a:ext cx="842268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01E1E">
                    <a:alpha val="44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07 / 24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343819"/>
            <a:ext cx="155448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914400"/>
            <a:ext cx="15544800" cy="19050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066800"/>
            <a:ext cx="1538446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01 </a:t>
            </a:r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11F1D">
                    <a:alpha val="52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项目概览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5947132" y="1066800"/>
            <a:ext cx="1045468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11F1D">
                    <a:alpha val="52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界面一览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33400" y="4465638"/>
            <a:ext cx="345579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33400" y="4866481"/>
            <a:ext cx="345579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1F1F1F">
                    <a:alpha val="2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33400" y="5267325"/>
            <a:ext cx="345579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1F1F1F">
                    <a:alpha val="2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03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33400" y="5668169"/>
            <a:ext cx="345579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1F1F1F">
                    <a:alpha val="2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04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50963" y="1769269"/>
            <a:ext cx="17121982" cy="4337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69"/>
              </a:lnSpc>
              <a:buNone/>
            </a:pPr>
            <a:r>
              <a:rPr lang="en-US" sz="4650" b="1" spc="-70" kern="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界面一览</a:t>
            </a:r>
            <a:endParaRPr lang="en-US" sz="4650" dirty="0"/>
          </a:p>
        </p:txBody>
      </p:sp>
      <p:sp>
        <p:nvSpPr>
          <p:cNvPr id="11" name="Text 9"/>
          <p:cNvSpPr/>
          <p:nvPr/>
        </p:nvSpPr>
        <p:spPr>
          <a:xfrm>
            <a:off x="1371600" y="2584053"/>
            <a:ext cx="521097" cy="39241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图 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045097" y="2684859"/>
            <a:ext cx="2932063" cy="191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01E1E">
                    <a:alpha val="50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四个主要页面的运行截图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243870" y="2684859"/>
            <a:ext cx="1839784" cy="191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01E1E">
                    <a:alpha val="50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来源 · 本机运行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6088757"/>
            <a:ext cx="3708464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82"/>
              </a:lnSpc>
              <a:buNone/>
            </a:pPr>
            <a:r>
              <a:rPr lang="en-US" sz="1800" dirty="0">
                <a:solidFill>
                  <a:srgbClr val="211D1D">
                    <a:alpha val="58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2a · 首页健康总览 —— 异常指标以「需要留心」卡片呈现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353050" y="6088757"/>
            <a:ext cx="3708464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82"/>
              </a:lnSpc>
              <a:buNone/>
            </a:pPr>
            <a:r>
              <a:rPr lang="en-US" sz="1800" dirty="0">
                <a:solidFill>
                  <a:srgbClr val="211D1D">
                    <a:alpha val="58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2b · 智能健康问答 —— 流式输出并标注知识库出处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334500" y="6088757"/>
            <a:ext cx="3708464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82"/>
              </a:lnSpc>
              <a:buNone/>
            </a:pPr>
            <a:r>
              <a:rPr lang="en-US" sz="1800" dirty="0">
                <a:solidFill>
                  <a:srgbClr val="211D1D">
                    <a:alpha val="58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2c · 报告解读 —— 按化验单版式重排，异常行整行着色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315950" y="6088757"/>
            <a:ext cx="3708464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82"/>
              </a:lnSpc>
              <a:buNone/>
            </a:pPr>
            <a:r>
              <a:rPr lang="en-US" sz="1800" dirty="0">
                <a:solidFill>
                  <a:srgbClr val="211D1D">
                    <a:alpha val="58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2d · 向量检索诊断 —— 后端、状态与待补写条数可见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371600" y="7155557"/>
            <a:ext cx="155448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371600" y="7396857"/>
            <a:ext cx="495300" cy="39241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01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790700" y="7390507"/>
            <a:ext cx="4434459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15"/>
              </a:lnSpc>
              <a:buNone/>
            </a:pPr>
            <a:r>
              <a:rPr lang="en-US" sz="1875" dirty="0">
                <a:solidFill>
                  <a:srgbClr val="201E1D">
                    <a:alpha val="6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冷白工作面、深墨导航、蓝色信息态与珊瑚异常态；化验数字统一等宽字体。</a:t>
            </a:r>
            <a:endParaRPr lang="en-US" sz="1875" dirty="0"/>
          </a:p>
        </p:txBody>
      </p:sp>
      <p:sp>
        <p:nvSpPr>
          <p:cNvPr id="21" name="Text 19"/>
          <p:cNvSpPr/>
          <p:nvPr/>
        </p:nvSpPr>
        <p:spPr>
          <a:xfrm>
            <a:off x="6781800" y="7396857"/>
            <a:ext cx="495300" cy="39241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02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200900" y="7390507"/>
            <a:ext cx="4434459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15"/>
              </a:lnSpc>
              <a:buNone/>
            </a:pPr>
            <a:r>
              <a:rPr lang="en-US" sz="1875" dirty="0">
                <a:solidFill>
                  <a:srgbClr val="201E1D">
                    <a:alpha val="6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每个指标配参考区间标尺，异常值整行着色而非仅改数字颜色。</a:t>
            </a:r>
            <a:endParaRPr lang="en-US" sz="1875" dirty="0"/>
          </a:p>
        </p:txBody>
      </p:sp>
      <p:sp>
        <p:nvSpPr>
          <p:cNvPr id="23" name="Text 21"/>
          <p:cNvSpPr/>
          <p:nvPr/>
        </p:nvSpPr>
        <p:spPr>
          <a:xfrm>
            <a:off x="12192000" y="7396857"/>
            <a:ext cx="495300" cy="39241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2611100" y="7390507"/>
            <a:ext cx="4434459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15"/>
              </a:lnSpc>
              <a:buNone/>
            </a:pPr>
            <a:r>
              <a:rPr lang="en-US" sz="1875" dirty="0">
                <a:solidFill>
                  <a:srgbClr val="201E1D">
                    <a:alpha val="6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支持移动端断点、深色主题与 prefers-reduced-motion。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1371600" y="9079706"/>
            <a:ext cx="155448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371600" y="9219406"/>
            <a:ext cx="3371681" cy="191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01E1E">
                    <a:alpha val="44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康识问诊 · 技术汇报 · REV.4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6150333" y="9219406"/>
            <a:ext cx="842268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01E1E">
                    <a:alpha val="44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08 / 24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54000" y="0"/>
            <a:ext cx="5334000" cy="10287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3375" y="190500"/>
            <a:ext cx="1143000" cy="1524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0" y="9944100"/>
            <a:ext cx="1428750" cy="15240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5895975" y="9906000"/>
            <a:ext cx="228600" cy="228600"/>
          </a:xfrm>
          <a:prstGeom prst="ellipse">
            <a:avLst/>
          </a:prstGeom>
          <a:solidFill>
            <a:srgbClr val="201E1D">
              <a:alpha val="80000"/>
            </a:srgbClr>
          </a:solidFill>
          <a:ln/>
        </p:spPr>
      </p:sp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5975" y="9906000"/>
            <a:ext cx="228600" cy="228600"/>
          </a:xfrm>
          <a:prstGeom prst="ellipse">
            <a:avLst/>
          </a:prstGeom>
        </p:spPr>
      </p:pic>
      <p:sp>
        <p:nvSpPr>
          <p:cNvPr id="7" name="Shape 1"/>
          <p:cNvSpPr/>
          <p:nvPr/>
        </p:nvSpPr>
        <p:spPr>
          <a:xfrm>
            <a:off x="1371600" y="1343819"/>
            <a:ext cx="155448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8" name="Shape 2"/>
          <p:cNvSpPr/>
          <p:nvPr/>
        </p:nvSpPr>
        <p:spPr>
          <a:xfrm>
            <a:off x="1371600" y="914400"/>
            <a:ext cx="15544800" cy="19050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9" name="Text 3"/>
          <p:cNvSpPr/>
          <p:nvPr/>
        </p:nvSpPr>
        <p:spPr>
          <a:xfrm>
            <a:off x="1371600" y="1066800"/>
            <a:ext cx="1045468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11F1D">
                    <a:alpha val="52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第二部分</a:t>
            </a:r>
            <a:endParaRPr lang="en-US" sz="1800" dirty="0"/>
          </a:p>
        </p:txBody>
      </p:sp>
      <p:sp>
        <p:nvSpPr>
          <p:cNvPr id="10" name="Text 4"/>
          <p:cNvSpPr/>
          <p:nvPr/>
        </p:nvSpPr>
        <p:spPr>
          <a:xfrm>
            <a:off x="16150333" y="1066800"/>
            <a:ext cx="842268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11F1D">
                    <a:alpha val="52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02 / 04</a:t>
            </a:r>
            <a:endParaRPr lang="en-US" sz="1800" dirty="0"/>
          </a:p>
        </p:txBody>
      </p:sp>
      <p:sp>
        <p:nvSpPr>
          <p:cNvPr id="11" name="Text 5"/>
          <p:cNvSpPr/>
          <p:nvPr/>
        </p:nvSpPr>
        <p:spPr>
          <a:xfrm>
            <a:off x="1350963" y="2378869"/>
            <a:ext cx="17121982" cy="4337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69"/>
              </a:lnSpc>
              <a:buNone/>
            </a:pPr>
            <a:r>
              <a:rPr lang="en-US" sz="4650" b="1" spc="-70" kern="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数据集与数据库</a:t>
            </a:r>
            <a:endParaRPr lang="en-US" sz="4650" dirty="0"/>
          </a:p>
        </p:txBody>
      </p:sp>
      <p:sp>
        <p:nvSpPr>
          <p:cNvPr id="12" name="Shape 6"/>
          <p:cNvSpPr/>
          <p:nvPr/>
        </p:nvSpPr>
        <p:spPr>
          <a:xfrm>
            <a:off x="1371600" y="3546078"/>
            <a:ext cx="85725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13" name="Text 7"/>
          <p:cNvSpPr/>
          <p:nvPr/>
        </p:nvSpPr>
        <p:spPr>
          <a:xfrm>
            <a:off x="1371600" y="3736677"/>
            <a:ext cx="318095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10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1918295" y="3704828"/>
            <a:ext cx="2430780" cy="223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375"/>
              </a:lnSpc>
              <a:buNone/>
            </a:pPr>
            <a:r>
              <a:rPr lang="en-US" sz="2175" dirty="0">
                <a:solidFill>
                  <a:srgbClr val="201F1D">
                    <a:alpha val="62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知识来源与数据集</a:t>
            </a:r>
            <a:endParaRPr lang="en-US" sz="2175" dirty="0"/>
          </a:p>
        </p:txBody>
      </p:sp>
      <p:sp>
        <p:nvSpPr>
          <p:cNvPr id="15" name="Text 9"/>
          <p:cNvSpPr/>
          <p:nvPr/>
        </p:nvSpPr>
        <p:spPr>
          <a:xfrm>
            <a:off x="9540379" y="3736677"/>
            <a:ext cx="479921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dirty="0">
                <a:solidFill>
                  <a:srgbClr val="201E1E">
                    <a:alpha val="40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表 2</a:t>
            </a:r>
            <a:endParaRPr lang="en-US" sz="1800" dirty="0"/>
          </a:p>
        </p:txBody>
      </p:sp>
      <p:sp>
        <p:nvSpPr>
          <p:cNvPr id="16" name="Shape 10"/>
          <p:cNvSpPr/>
          <p:nvPr/>
        </p:nvSpPr>
        <p:spPr>
          <a:xfrm>
            <a:off x="1371600" y="4042271"/>
            <a:ext cx="85725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17" name="Text 11"/>
          <p:cNvSpPr/>
          <p:nvPr/>
        </p:nvSpPr>
        <p:spPr>
          <a:xfrm>
            <a:off x="1371600" y="4232870"/>
            <a:ext cx="318095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11</a:t>
            </a:r>
            <a:endParaRPr lang="en-US" sz="1800" dirty="0"/>
          </a:p>
        </p:txBody>
      </p:sp>
      <p:sp>
        <p:nvSpPr>
          <p:cNvPr id="18" name="Text 12"/>
          <p:cNvSpPr/>
          <p:nvPr/>
        </p:nvSpPr>
        <p:spPr>
          <a:xfrm>
            <a:off x="1918295" y="4201021"/>
            <a:ext cx="3038475" cy="223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375"/>
              </a:lnSpc>
              <a:buNone/>
            </a:pPr>
            <a:r>
              <a:rPr lang="en-US" sz="2175" dirty="0">
                <a:solidFill>
                  <a:srgbClr val="201F1D">
                    <a:alpha val="62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十四张表的五个业务域</a:t>
            </a:r>
            <a:endParaRPr lang="en-US" sz="2175" dirty="0"/>
          </a:p>
        </p:txBody>
      </p:sp>
      <p:sp>
        <p:nvSpPr>
          <p:cNvPr id="19" name="Text 13"/>
          <p:cNvSpPr/>
          <p:nvPr/>
        </p:nvSpPr>
        <p:spPr>
          <a:xfrm>
            <a:off x="9540379" y="4232870"/>
            <a:ext cx="479921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dirty="0">
                <a:solidFill>
                  <a:srgbClr val="201E1E">
                    <a:alpha val="40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图 3</a:t>
            </a:r>
            <a:endParaRPr lang="en-US" sz="1800" dirty="0"/>
          </a:p>
        </p:txBody>
      </p:sp>
      <p:sp>
        <p:nvSpPr>
          <p:cNvPr id="20" name="Shape 14"/>
          <p:cNvSpPr/>
          <p:nvPr/>
        </p:nvSpPr>
        <p:spPr>
          <a:xfrm>
            <a:off x="799505" y="6459935"/>
            <a:ext cx="2753519" cy="1906786"/>
          </a:xfrm>
          <a:prstGeom prst="rect">
            <a:avLst/>
          </a:prstGeom>
          <a:solidFill>
            <a:srgbClr val="F3F2F2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505" y="6459935"/>
            <a:ext cx="2753519" cy="1906786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1371600" y="9079706"/>
            <a:ext cx="155448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23" name="Text 16"/>
          <p:cNvSpPr/>
          <p:nvPr/>
        </p:nvSpPr>
        <p:spPr>
          <a:xfrm>
            <a:off x="1371600" y="9219406"/>
            <a:ext cx="3371681" cy="191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01E1E">
                    <a:alpha val="44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康识问诊 · 技术汇报 · REV.4</a:t>
            </a:r>
            <a:endParaRPr lang="en-US" sz="1800" dirty="0"/>
          </a:p>
        </p:txBody>
      </p:sp>
      <p:sp>
        <p:nvSpPr>
          <p:cNvPr id="24" name="Text 17"/>
          <p:cNvSpPr/>
          <p:nvPr/>
        </p:nvSpPr>
        <p:spPr>
          <a:xfrm>
            <a:off x="16150333" y="9219406"/>
            <a:ext cx="842268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01E1E">
                    <a:alpha val="44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09 / 24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343819"/>
            <a:ext cx="155448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914400"/>
            <a:ext cx="15544800" cy="19050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066800"/>
            <a:ext cx="2338120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02 </a:t>
            </a:r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11F1D">
                    <a:alpha val="52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数据集与数据库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977865" y="1066800"/>
            <a:ext cx="2132390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11F1D">
                    <a:alpha val="52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知识来源与数据集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33400" y="4465638"/>
            <a:ext cx="345579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1F1F1F">
                    <a:alpha val="2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33400" y="4866481"/>
            <a:ext cx="345579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33400" y="5267325"/>
            <a:ext cx="345579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1F1F1F">
                    <a:alpha val="2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03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33400" y="5668169"/>
            <a:ext cx="345579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1F1F1F">
                    <a:alpha val="2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04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50963" y="1769269"/>
            <a:ext cx="17121982" cy="4337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69"/>
              </a:lnSpc>
              <a:buNone/>
            </a:pPr>
            <a:r>
              <a:rPr lang="en-US" sz="4650" b="1" spc="-70" kern="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知识来源与数据集</a:t>
            </a:r>
            <a:endParaRPr lang="en-US" sz="4650" dirty="0"/>
          </a:p>
        </p:txBody>
      </p:sp>
      <p:sp>
        <p:nvSpPr>
          <p:cNvPr id="11" name="Text 9"/>
          <p:cNvSpPr/>
          <p:nvPr/>
        </p:nvSpPr>
        <p:spPr>
          <a:xfrm>
            <a:off x="1371600" y="2584053"/>
            <a:ext cx="521097" cy="39241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表 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045097" y="2684859"/>
            <a:ext cx="3465215" cy="191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01E1E">
                    <a:alpha val="50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十二个权威源与两类内置字典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720565" y="2684859"/>
            <a:ext cx="3515420" cy="191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01E1E">
                    <a:alpha val="50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来源 · official-sources.json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371600" y="3959523"/>
            <a:ext cx="951012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600200" y="3695410"/>
            <a:ext cx="570012" cy="18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b="1" spc="108" kern="0" dirty="0">
                <a:solidFill>
                  <a:srgbClr val="201E1C">
                    <a:alpha val="60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序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322612" y="3959523"/>
            <a:ext cx="3486845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2551212" y="3695410"/>
            <a:ext cx="3134250" cy="18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b="1" spc="108" kern="0" dirty="0">
                <a:solidFill>
                  <a:srgbClr val="201E1C">
                    <a:alpha val="60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来源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809456" y="3959523"/>
            <a:ext cx="3898503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038056" y="3695410"/>
            <a:ext cx="3558258" cy="18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b="1" spc="108" kern="0" dirty="0">
                <a:solidFill>
                  <a:srgbClr val="201E1C">
                    <a:alpha val="60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发布方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707960" y="3959523"/>
            <a:ext cx="1516459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9936560" y="3695410"/>
            <a:ext cx="1135459" cy="18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b="1" spc="108" kern="0" dirty="0">
                <a:solidFill>
                  <a:srgbClr val="201E1C">
                    <a:alpha val="60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规模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1224420" y="3959523"/>
            <a:ext cx="5691982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1453020" y="3695410"/>
            <a:ext cx="5405541" cy="18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b="1" spc="108" kern="0" dirty="0">
                <a:solidFill>
                  <a:srgbClr val="201E1C">
                    <a:alpha val="60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用途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371600" y="4347071"/>
            <a:ext cx="951012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600200" y="4076791"/>
            <a:ext cx="570012" cy="197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E">
                    <a:alpha val="40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01</a:t>
            </a:r>
            <a:endParaRPr lang="en-US" sz="1875" dirty="0"/>
          </a:p>
        </p:txBody>
      </p:sp>
      <p:sp>
        <p:nvSpPr>
          <p:cNvPr id="26" name="Shape 24"/>
          <p:cNvSpPr/>
          <p:nvPr/>
        </p:nvSpPr>
        <p:spPr>
          <a:xfrm>
            <a:off x="2322612" y="4347071"/>
            <a:ext cx="3486845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2551212" y="4076791"/>
            <a:ext cx="3134250" cy="197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WHO 中文实况报道</a:t>
            </a:r>
            <a:endParaRPr lang="en-US" sz="1875" dirty="0"/>
          </a:p>
        </p:txBody>
      </p:sp>
      <p:sp>
        <p:nvSpPr>
          <p:cNvPr id="28" name="Shape 26"/>
          <p:cNvSpPr/>
          <p:nvPr/>
        </p:nvSpPr>
        <p:spPr>
          <a:xfrm>
            <a:off x="5809456" y="4347071"/>
            <a:ext cx="3898503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038056" y="4076791"/>
            <a:ext cx="3558258" cy="197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世界卫生组织</a:t>
            </a:r>
            <a:endParaRPr lang="en-US" sz="1875" dirty="0"/>
          </a:p>
        </p:txBody>
      </p:sp>
      <p:sp>
        <p:nvSpPr>
          <p:cNvPr id="30" name="Shape 28"/>
          <p:cNvSpPr/>
          <p:nvPr/>
        </p:nvSpPr>
        <p:spPr>
          <a:xfrm>
            <a:off x="9707960" y="4347071"/>
            <a:ext cx="1516459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9936560" y="4076791"/>
            <a:ext cx="1135459" cy="1974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00678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10 篇</a:t>
            </a:r>
            <a:endParaRPr lang="en-US" sz="1875" dirty="0"/>
          </a:p>
        </p:txBody>
      </p:sp>
      <p:sp>
        <p:nvSpPr>
          <p:cNvPr id="32" name="Shape 30"/>
          <p:cNvSpPr/>
          <p:nvPr/>
        </p:nvSpPr>
        <p:spPr>
          <a:xfrm>
            <a:off x="11224420" y="4347071"/>
            <a:ext cx="5691982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11453020" y="4076791"/>
            <a:ext cx="5405541" cy="197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问答知识库主语料</a:t>
            </a:r>
            <a:endParaRPr lang="en-US" sz="1875" dirty="0"/>
          </a:p>
        </p:txBody>
      </p:sp>
      <p:sp>
        <p:nvSpPr>
          <p:cNvPr id="34" name="Shape 32"/>
          <p:cNvSpPr/>
          <p:nvPr/>
        </p:nvSpPr>
        <p:spPr>
          <a:xfrm>
            <a:off x="1371600" y="4734620"/>
            <a:ext cx="951012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1600200" y="4464340"/>
            <a:ext cx="570012" cy="197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E">
                    <a:alpha val="40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02</a:t>
            </a:r>
            <a:endParaRPr lang="en-US" sz="1875" dirty="0"/>
          </a:p>
        </p:txBody>
      </p:sp>
      <p:sp>
        <p:nvSpPr>
          <p:cNvPr id="36" name="Shape 34"/>
          <p:cNvSpPr/>
          <p:nvPr/>
        </p:nvSpPr>
        <p:spPr>
          <a:xfrm>
            <a:off x="2322612" y="4734620"/>
            <a:ext cx="3486845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2551212" y="4464340"/>
            <a:ext cx="3134250" cy="197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国家卫健委公开文件</a:t>
            </a:r>
            <a:endParaRPr lang="en-US" sz="1875" dirty="0"/>
          </a:p>
        </p:txBody>
      </p:sp>
      <p:sp>
        <p:nvSpPr>
          <p:cNvPr id="38" name="Shape 36"/>
          <p:cNvSpPr/>
          <p:nvPr/>
        </p:nvSpPr>
        <p:spPr>
          <a:xfrm>
            <a:off x="5809456" y="4734620"/>
            <a:ext cx="3898503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6038056" y="4464340"/>
            <a:ext cx="3558258" cy="197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国家卫生健康委员会</a:t>
            </a:r>
            <a:endParaRPr lang="en-US" sz="1875" dirty="0"/>
          </a:p>
        </p:txBody>
      </p:sp>
      <p:sp>
        <p:nvSpPr>
          <p:cNvPr id="40" name="Shape 38"/>
          <p:cNvSpPr/>
          <p:nvPr/>
        </p:nvSpPr>
        <p:spPr>
          <a:xfrm>
            <a:off x="9707960" y="4734620"/>
            <a:ext cx="1516459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9936560" y="4464340"/>
            <a:ext cx="1135459" cy="1974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00678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 份</a:t>
            </a:r>
            <a:endParaRPr lang="en-US" sz="1875" dirty="0"/>
          </a:p>
        </p:txBody>
      </p:sp>
      <p:sp>
        <p:nvSpPr>
          <p:cNvPr id="42" name="Shape 40"/>
          <p:cNvSpPr/>
          <p:nvPr/>
        </p:nvSpPr>
        <p:spPr>
          <a:xfrm>
            <a:off x="11224420" y="4734620"/>
            <a:ext cx="5691982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11453020" y="4464340"/>
            <a:ext cx="5405541" cy="197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政策规范类语料</a:t>
            </a:r>
            <a:endParaRPr lang="en-US" sz="1875" dirty="0"/>
          </a:p>
        </p:txBody>
      </p:sp>
      <p:sp>
        <p:nvSpPr>
          <p:cNvPr id="44" name="Shape 42"/>
          <p:cNvSpPr/>
          <p:nvPr/>
        </p:nvSpPr>
        <p:spPr>
          <a:xfrm>
            <a:off x="1371600" y="5122168"/>
            <a:ext cx="951012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1600200" y="4851888"/>
            <a:ext cx="570012" cy="197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E">
                    <a:alpha val="40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03</a:t>
            </a:r>
            <a:endParaRPr lang="en-US" sz="1875" dirty="0"/>
          </a:p>
        </p:txBody>
      </p:sp>
      <p:sp>
        <p:nvSpPr>
          <p:cNvPr id="46" name="Shape 44"/>
          <p:cNvSpPr/>
          <p:nvPr/>
        </p:nvSpPr>
        <p:spPr>
          <a:xfrm>
            <a:off x="2322612" y="5122168"/>
            <a:ext cx="3486845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2551212" y="4851888"/>
            <a:ext cx="3134250" cy="197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WHO 中文新闻室</a:t>
            </a:r>
            <a:endParaRPr lang="en-US" sz="1875" dirty="0"/>
          </a:p>
        </p:txBody>
      </p:sp>
      <p:sp>
        <p:nvSpPr>
          <p:cNvPr id="48" name="Shape 46"/>
          <p:cNvSpPr/>
          <p:nvPr/>
        </p:nvSpPr>
        <p:spPr>
          <a:xfrm>
            <a:off x="5809456" y="5122168"/>
            <a:ext cx="3898503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6038056" y="4851888"/>
            <a:ext cx="3558258" cy="197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世界卫生组织</a:t>
            </a:r>
            <a:endParaRPr lang="en-US" sz="1875" dirty="0"/>
          </a:p>
        </p:txBody>
      </p:sp>
      <p:sp>
        <p:nvSpPr>
          <p:cNvPr id="50" name="Shape 48"/>
          <p:cNvSpPr/>
          <p:nvPr/>
        </p:nvSpPr>
        <p:spPr>
          <a:xfrm>
            <a:off x="9707960" y="5122168"/>
            <a:ext cx="1516459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9936560" y="4851888"/>
            <a:ext cx="1135459" cy="1974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30 条</a:t>
            </a:r>
            <a:endParaRPr lang="en-US" sz="1875" dirty="0"/>
          </a:p>
        </p:txBody>
      </p:sp>
      <p:sp>
        <p:nvSpPr>
          <p:cNvPr id="52" name="Shape 50"/>
          <p:cNvSpPr/>
          <p:nvPr/>
        </p:nvSpPr>
        <p:spPr>
          <a:xfrm>
            <a:off x="11224420" y="5122168"/>
            <a:ext cx="5691982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11453020" y="4851888"/>
            <a:ext cx="5405541" cy="197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首页健康新闻，每 6 小时增量</a:t>
            </a:r>
            <a:endParaRPr lang="en-US" sz="1875" dirty="0"/>
          </a:p>
        </p:txBody>
      </p:sp>
      <p:sp>
        <p:nvSpPr>
          <p:cNvPr id="54" name="Shape 52"/>
          <p:cNvSpPr/>
          <p:nvPr/>
        </p:nvSpPr>
        <p:spPr>
          <a:xfrm>
            <a:off x="1371600" y="5509717"/>
            <a:ext cx="951012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1600200" y="5239437"/>
            <a:ext cx="570012" cy="197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E">
                    <a:alpha val="40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04</a:t>
            </a:r>
            <a:endParaRPr lang="en-US" sz="1875" dirty="0"/>
          </a:p>
        </p:txBody>
      </p:sp>
      <p:sp>
        <p:nvSpPr>
          <p:cNvPr id="56" name="Shape 54"/>
          <p:cNvSpPr/>
          <p:nvPr/>
        </p:nvSpPr>
        <p:spPr>
          <a:xfrm>
            <a:off x="2322612" y="5509717"/>
            <a:ext cx="3486845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2551212" y="5239437"/>
            <a:ext cx="3134250" cy="197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示例化验单照片</a:t>
            </a:r>
            <a:endParaRPr lang="en-US" sz="1875" dirty="0"/>
          </a:p>
        </p:txBody>
      </p:sp>
      <p:sp>
        <p:nvSpPr>
          <p:cNvPr id="58" name="Shape 56"/>
          <p:cNvSpPr/>
          <p:nvPr/>
        </p:nvSpPr>
        <p:spPr>
          <a:xfrm>
            <a:off x="5809456" y="5509717"/>
            <a:ext cx="3898503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6038056" y="5239437"/>
            <a:ext cx="3558258" cy="197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Wikimedia Commons</a:t>
            </a:r>
            <a:endParaRPr lang="en-US" sz="1875" dirty="0"/>
          </a:p>
        </p:txBody>
      </p:sp>
      <p:sp>
        <p:nvSpPr>
          <p:cNvPr id="60" name="Shape 58"/>
          <p:cNvSpPr/>
          <p:nvPr/>
        </p:nvSpPr>
        <p:spPr>
          <a:xfrm>
            <a:off x="9707960" y="5509717"/>
            <a:ext cx="1516459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9936560" y="5239437"/>
            <a:ext cx="1135459" cy="1974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 张</a:t>
            </a:r>
            <a:endParaRPr lang="en-US" sz="1875" dirty="0"/>
          </a:p>
        </p:txBody>
      </p:sp>
      <p:sp>
        <p:nvSpPr>
          <p:cNvPr id="62" name="Shape 60"/>
          <p:cNvSpPr/>
          <p:nvPr/>
        </p:nvSpPr>
        <p:spPr>
          <a:xfrm>
            <a:off x="11224420" y="5509717"/>
            <a:ext cx="5691982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11453020" y="5239437"/>
            <a:ext cx="5405541" cy="197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多模态解析器验证（CC BY-SA 4.0）</a:t>
            </a:r>
            <a:endParaRPr lang="en-US" sz="1875" dirty="0"/>
          </a:p>
        </p:txBody>
      </p:sp>
      <p:sp>
        <p:nvSpPr>
          <p:cNvPr id="64" name="Shape 62"/>
          <p:cNvSpPr/>
          <p:nvPr/>
        </p:nvSpPr>
        <p:spPr>
          <a:xfrm>
            <a:off x="1371600" y="5897265"/>
            <a:ext cx="951012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1600200" y="5626985"/>
            <a:ext cx="570012" cy="197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E">
                    <a:alpha val="40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05</a:t>
            </a:r>
            <a:endParaRPr lang="en-US" sz="1875" dirty="0"/>
          </a:p>
        </p:txBody>
      </p:sp>
      <p:sp>
        <p:nvSpPr>
          <p:cNvPr id="66" name="Shape 64"/>
          <p:cNvSpPr/>
          <p:nvPr/>
        </p:nvSpPr>
        <p:spPr>
          <a:xfrm>
            <a:off x="2322612" y="5897265"/>
            <a:ext cx="3486845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2551212" y="5626985"/>
            <a:ext cx="3134250" cy="197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指标参考区间</a:t>
            </a:r>
            <a:endParaRPr lang="en-US" sz="1875" dirty="0"/>
          </a:p>
        </p:txBody>
      </p:sp>
      <p:sp>
        <p:nvSpPr>
          <p:cNvPr id="68" name="Shape 66"/>
          <p:cNvSpPr/>
          <p:nvPr/>
        </p:nvSpPr>
        <p:spPr>
          <a:xfrm>
            <a:off x="5809456" y="5897265"/>
            <a:ext cx="3898503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69" name="Text 67"/>
          <p:cNvSpPr/>
          <p:nvPr/>
        </p:nvSpPr>
        <p:spPr>
          <a:xfrm>
            <a:off x="6038056" y="5626985"/>
            <a:ext cx="3558258" cy="197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项目内置</a:t>
            </a:r>
            <a:endParaRPr lang="en-US" sz="1875" dirty="0"/>
          </a:p>
        </p:txBody>
      </p:sp>
      <p:sp>
        <p:nvSpPr>
          <p:cNvPr id="70" name="Shape 68"/>
          <p:cNvSpPr/>
          <p:nvPr/>
        </p:nvSpPr>
        <p:spPr>
          <a:xfrm>
            <a:off x="9707960" y="5897265"/>
            <a:ext cx="1516459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71" name="Text 69"/>
          <p:cNvSpPr/>
          <p:nvPr/>
        </p:nvSpPr>
        <p:spPr>
          <a:xfrm>
            <a:off x="9936560" y="5626985"/>
            <a:ext cx="1135459" cy="1974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8 项</a:t>
            </a:r>
            <a:endParaRPr lang="en-US" sz="1875" dirty="0"/>
          </a:p>
        </p:txBody>
      </p:sp>
      <p:sp>
        <p:nvSpPr>
          <p:cNvPr id="72" name="Shape 70"/>
          <p:cNvSpPr/>
          <p:nvPr/>
        </p:nvSpPr>
        <p:spPr>
          <a:xfrm>
            <a:off x="11224420" y="5897265"/>
            <a:ext cx="5691982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73" name="Text 71"/>
          <p:cNvSpPr/>
          <p:nvPr/>
        </p:nvSpPr>
        <p:spPr>
          <a:xfrm>
            <a:off x="11453020" y="5626985"/>
            <a:ext cx="5405541" cy="197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血压、血糖、血脂等高低判定</a:t>
            </a:r>
            <a:endParaRPr lang="en-US" sz="1875" dirty="0"/>
          </a:p>
        </p:txBody>
      </p:sp>
      <p:sp>
        <p:nvSpPr>
          <p:cNvPr id="74" name="Shape 72"/>
          <p:cNvSpPr/>
          <p:nvPr/>
        </p:nvSpPr>
        <p:spPr>
          <a:xfrm>
            <a:off x="1371600" y="6284814"/>
            <a:ext cx="951012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75" name="Text 73"/>
          <p:cNvSpPr/>
          <p:nvPr/>
        </p:nvSpPr>
        <p:spPr>
          <a:xfrm>
            <a:off x="1600200" y="6014534"/>
            <a:ext cx="570012" cy="197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E">
                    <a:alpha val="40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06</a:t>
            </a:r>
            <a:endParaRPr lang="en-US" sz="1875" dirty="0"/>
          </a:p>
        </p:txBody>
      </p:sp>
      <p:sp>
        <p:nvSpPr>
          <p:cNvPr id="76" name="Shape 74"/>
          <p:cNvSpPr/>
          <p:nvPr/>
        </p:nvSpPr>
        <p:spPr>
          <a:xfrm>
            <a:off x="2322612" y="6284814"/>
            <a:ext cx="3486845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77" name="Text 75"/>
          <p:cNvSpPr/>
          <p:nvPr/>
        </p:nvSpPr>
        <p:spPr>
          <a:xfrm>
            <a:off x="2551212" y="6014534"/>
            <a:ext cx="3134250" cy="197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英文指标别名表</a:t>
            </a:r>
            <a:endParaRPr lang="en-US" sz="1875" dirty="0"/>
          </a:p>
        </p:txBody>
      </p:sp>
      <p:sp>
        <p:nvSpPr>
          <p:cNvPr id="78" name="Shape 76"/>
          <p:cNvSpPr/>
          <p:nvPr/>
        </p:nvSpPr>
        <p:spPr>
          <a:xfrm>
            <a:off x="5809456" y="6284814"/>
            <a:ext cx="3898503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79" name="Text 77"/>
          <p:cNvSpPr/>
          <p:nvPr/>
        </p:nvSpPr>
        <p:spPr>
          <a:xfrm>
            <a:off x="6038056" y="6014534"/>
            <a:ext cx="3558258" cy="197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项目内置</a:t>
            </a:r>
            <a:endParaRPr lang="en-US" sz="1875" dirty="0"/>
          </a:p>
        </p:txBody>
      </p:sp>
      <p:sp>
        <p:nvSpPr>
          <p:cNvPr id="80" name="Shape 78"/>
          <p:cNvSpPr/>
          <p:nvPr/>
        </p:nvSpPr>
        <p:spPr>
          <a:xfrm>
            <a:off x="9707960" y="6284814"/>
            <a:ext cx="1516459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81" name="Text 79"/>
          <p:cNvSpPr/>
          <p:nvPr/>
        </p:nvSpPr>
        <p:spPr>
          <a:xfrm>
            <a:off x="9936560" y="6014534"/>
            <a:ext cx="1135459" cy="1974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40+ 条</a:t>
            </a:r>
            <a:endParaRPr lang="en-US" sz="1875" dirty="0"/>
          </a:p>
        </p:txBody>
      </p:sp>
      <p:sp>
        <p:nvSpPr>
          <p:cNvPr id="82" name="Shape 80"/>
          <p:cNvSpPr/>
          <p:nvPr/>
        </p:nvSpPr>
        <p:spPr>
          <a:xfrm>
            <a:off x="11224420" y="6284814"/>
            <a:ext cx="5691982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83" name="Text 81"/>
          <p:cNvSpPr/>
          <p:nvPr/>
        </p:nvSpPr>
        <p:spPr>
          <a:xfrm>
            <a:off x="11453020" y="6014534"/>
            <a:ext cx="5405541" cy="197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英文报告归一与单位换算</a:t>
            </a:r>
            <a:endParaRPr lang="en-US" sz="1875" dirty="0"/>
          </a:p>
        </p:txBody>
      </p:sp>
      <p:sp>
        <p:nvSpPr>
          <p:cNvPr id="84" name="Shape 82"/>
          <p:cNvSpPr/>
          <p:nvPr/>
        </p:nvSpPr>
        <p:spPr>
          <a:xfrm>
            <a:off x="1371600" y="6713438"/>
            <a:ext cx="155448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85" name="Text 83"/>
          <p:cNvSpPr/>
          <p:nvPr/>
        </p:nvSpPr>
        <p:spPr>
          <a:xfrm>
            <a:off x="1371600" y="6954738"/>
            <a:ext cx="495300" cy="39241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01</a:t>
            </a:r>
            <a:endParaRPr lang="en-US" sz="1800" dirty="0"/>
          </a:p>
        </p:txBody>
      </p:sp>
      <p:sp>
        <p:nvSpPr>
          <p:cNvPr id="86" name="Text 84"/>
          <p:cNvSpPr/>
          <p:nvPr/>
        </p:nvSpPr>
        <p:spPr>
          <a:xfrm>
            <a:off x="1790700" y="6948389"/>
            <a:ext cx="4434459" cy="1123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15"/>
              </a:lnSpc>
              <a:buNone/>
            </a:pPr>
            <a:r>
              <a:rPr lang="en-US" sz="1875" dirty="0">
                <a:solidFill>
                  <a:srgbClr val="201E1D">
                    <a:alpha val="6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10 篇实况报道覆盖高血压、糖尿病、心血管疾病、流感、饮食、身体活动、肥胖、钠摄入、哮喘与慢阻肺。</a:t>
            </a:r>
            <a:endParaRPr lang="en-US" sz="1875" dirty="0"/>
          </a:p>
        </p:txBody>
      </p:sp>
      <p:sp>
        <p:nvSpPr>
          <p:cNvPr id="87" name="Text 85"/>
          <p:cNvSpPr/>
          <p:nvPr/>
        </p:nvSpPr>
        <p:spPr>
          <a:xfrm>
            <a:off x="6781800" y="6954738"/>
            <a:ext cx="495300" cy="39241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02</a:t>
            </a:r>
            <a:endParaRPr lang="en-US" sz="1800" dirty="0"/>
          </a:p>
        </p:txBody>
      </p:sp>
      <p:sp>
        <p:nvSpPr>
          <p:cNvPr id="88" name="Text 86"/>
          <p:cNvSpPr/>
          <p:nvPr/>
        </p:nvSpPr>
        <p:spPr>
          <a:xfrm>
            <a:off x="7200900" y="6948389"/>
            <a:ext cx="4434459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15"/>
              </a:lnSpc>
              <a:buNone/>
            </a:pPr>
            <a:r>
              <a:rPr lang="en-US" sz="1875" dirty="0">
                <a:solidFill>
                  <a:srgbClr val="201E1D">
                    <a:alpha val="6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启动时在线拉取正文并保留原文链接，失败回落仓库内已核对的官方快照。</a:t>
            </a:r>
            <a:endParaRPr lang="en-US" sz="1875" dirty="0"/>
          </a:p>
        </p:txBody>
      </p:sp>
      <p:sp>
        <p:nvSpPr>
          <p:cNvPr id="89" name="Text 87"/>
          <p:cNvSpPr/>
          <p:nvPr/>
        </p:nvSpPr>
        <p:spPr>
          <a:xfrm>
            <a:off x="12192000" y="6954738"/>
            <a:ext cx="495300" cy="39241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03</a:t>
            </a:r>
            <a:endParaRPr lang="en-US" sz="1800" dirty="0"/>
          </a:p>
        </p:txBody>
      </p:sp>
      <p:sp>
        <p:nvSpPr>
          <p:cNvPr id="90" name="Text 88"/>
          <p:cNvSpPr/>
          <p:nvPr/>
        </p:nvSpPr>
        <p:spPr>
          <a:xfrm>
            <a:off x="12611100" y="6948389"/>
            <a:ext cx="4434459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15"/>
              </a:lnSpc>
              <a:buNone/>
            </a:pPr>
            <a:r>
              <a:rPr lang="en-US" sz="1875" dirty="0">
                <a:solidFill>
                  <a:srgbClr val="201E1D">
                    <a:alpha val="6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语料全部公开可查，不含任何患者隐私数据；示例化验单为公共许可图片。</a:t>
            </a:r>
            <a:endParaRPr lang="en-US" sz="1875" dirty="0"/>
          </a:p>
        </p:txBody>
      </p:sp>
      <p:sp>
        <p:nvSpPr>
          <p:cNvPr id="91" name="Shape 89"/>
          <p:cNvSpPr/>
          <p:nvPr/>
        </p:nvSpPr>
        <p:spPr>
          <a:xfrm>
            <a:off x="1371600" y="9079706"/>
            <a:ext cx="155448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92" name="Text 90"/>
          <p:cNvSpPr/>
          <p:nvPr/>
        </p:nvSpPr>
        <p:spPr>
          <a:xfrm>
            <a:off x="1371600" y="9219406"/>
            <a:ext cx="3371681" cy="191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01E1E">
                    <a:alpha val="44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康识问诊 · 技术汇报 · REV.4</a:t>
            </a:r>
            <a:endParaRPr lang="en-US" sz="1800" dirty="0"/>
          </a:p>
        </p:txBody>
      </p:sp>
      <p:sp>
        <p:nvSpPr>
          <p:cNvPr id="93" name="Text 91"/>
          <p:cNvSpPr/>
          <p:nvPr/>
        </p:nvSpPr>
        <p:spPr>
          <a:xfrm>
            <a:off x="16150333" y="9219406"/>
            <a:ext cx="842268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01E1E">
                    <a:alpha val="44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10 / 24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343819"/>
            <a:ext cx="155448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914400"/>
            <a:ext cx="15544800" cy="19050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066800"/>
            <a:ext cx="2338120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02 </a:t>
            </a:r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11F1D">
                    <a:alpha val="52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数据集与数据库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493180" y="1066800"/>
            <a:ext cx="2665541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11F1D">
                    <a:alpha val="52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十四张表的五个业务域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33400" y="4465638"/>
            <a:ext cx="345579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1F1F1F">
                    <a:alpha val="2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33400" y="4866481"/>
            <a:ext cx="345579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33400" y="5267325"/>
            <a:ext cx="345579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1F1F1F">
                    <a:alpha val="2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03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33400" y="5668169"/>
            <a:ext cx="345579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1F1F1F">
                    <a:alpha val="2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04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50963" y="1769269"/>
            <a:ext cx="17121982" cy="4337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69"/>
              </a:lnSpc>
              <a:buNone/>
            </a:pPr>
            <a:r>
              <a:rPr lang="en-US" sz="4650" b="1" spc="-70" kern="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十四张表的五个业务域</a:t>
            </a:r>
            <a:endParaRPr lang="en-US" sz="4650" dirty="0"/>
          </a:p>
        </p:txBody>
      </p:sp>
      <p:sp>
        <p:nvSpPr>
          <p:cNvPr id="11" name="Text 9"/>
          <p:cNvSpPr/>
          <p:nvPr/>
        </p:nvSpPr>
        <p:spPr>
          <a:xfrm>
            <a:off x="1371600" y="2584053"/>
            <a:ext cx="521097" cy="39241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图 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045097" y="2684859"/>
            <a:ext cx="2665541" cy="191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01E1E">
                    <a:alpha val="50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五个业务域与十四张表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861481" y="2684859"/>
            <a:ext cx="2260412" cy="191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01E1E">
                    <a:alpha val="50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来源 · schema.sql</a:t>
            </a:r>
            <a:endParaRPr lang="en-US" sz="18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71600" y="3166963"/>
            <a:ext cx="15544800" cy="40005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1371600" y="7586564"/>
            <a:ext cx="155448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1371600" y="7827863"/>
            <a:ext cx="495300" cy="39241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01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790700" y="7821513"/>
            <a:ext cx="4434459" cy="1123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15"/>
              </a:lnSpc>
              <a:buNone/>
            </a:pPr>
            <a:r>
              <a:rPr lang="en-US" sz="1875" dirty="0">
                <a:solidFill>
                  <a:srgbClr val="201E1D">
                    <a:alpha val="6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schema.sql 为纯幂等 CREATE TABLE IF NOT EXISTS，索引内联在表定义里，MySQL 8 与 H2 通用。</a:t>
            </a:r>
            <a:endParaRPr lang="en-US" sz="1875" dirty="0"/>
          </a:p>
        </p:txBody>
      </p:sp>
      <p:sp>
        <p:nvSpPr>
          <p:cNvPr id="18" name="Text 15"/>
          <p:cNvSpPr/>
          <p:nvPr/>
        </p:nvSpPr>
        <p:spPr>
          <a:xfrm>
            <a:off x="6781800" y="7827863"/>
            <a:ext cx="495300" cy="39241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02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7200900" y="7821513"/>
            <a:ext cx="4434459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15"/>
              </a:lnSpc>
              <a:buNone/>
            </a:pPr>
            <a:r>
              <a:rPr lang="en-US" sz="1875" dirty="0">
                <a:solidFill>
                  <a:srgbClr val="201E1D">
                    <a:alpha val="6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趋势查询命中 profile_id + metric_type + recorded_at 三列联合索引。</a:t>
            </a:r>
            <a:endParaRPr lang="en-US" sz="1875" dirty="0"/>
          </a:p>
        </p:txBody>
      </p:sp>
      <p:sp>
        <p:nvSpPr>
          <p:cNvPr id="20" name="Text 17"/>
          <p:cNvSpPr/>
          <p:nvPr/>
        </p:nvSpPr>
        <p:spPr>
          <a:xfrm>
            <a:off x="12192000" y="7827863"/>
            <a:ext cx="495300" cy="39241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2611100" y="7821513"/>
            <a:ext cx="4434459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15"/>
              </a:lnSpc>
              <a:buNone/>
            </a:pPr>
            <a:r>
              <a:rPr lang="en-US" sz="1875" dirty="0">
                <a:solidFill>
                  <a:srgbClr val="201E1D">
                    <a:alpha val="6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kb_chunk 按 ordinal 批量取块，重建向量不依赖原始文件是否还在。</a:t>
            </a:r>
            <a:endParaRPr lang="en-US" sz="1875" dirty="0"/>
          </a:p>
        </p:txBody>
      </p:sp>
      <p:sp>
        <p:nvSpPr>
          <p:cNvPr id="22" name="Shape 19"/>
          <p:cNvSpPr/>
          <p:nvPr/>
        </p:nvSpPr>
        <p:spPr>
          <a:xfrm>
            <a:off x="1371600" y="9079706"/>
            <a:ext cx="155448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1371600" y="9219406"/>
            <a:ext cx="3371681" cy="191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01E1E">
                    <a:alpha val="44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康识问诊 · 技术汇报 · REV.4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16150333" y="9219406"/>
            <a:ext cx="842268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01E1E">
                    <a:alpha val="44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11 / 24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54000" y="0"/>
            <a:ext cx="5334000" cy="10287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3375" y="190500"/>
            <a:ext cx="1143000" cy="1524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0" y="9944100"/>
            <a:ext cx="1428750" cy="15240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5895975" y="9906000"/>
            <a:ext cx="228600" cy="228600"/>
          </a:xfrm>
          <a:prstGeom prst="ellipse">
            <a:avLst/>
          </a:prstGeom>
          <a:solidFill>
            <a:srgbClr val="201E1D">
              <a:alpha val="80000"/>
            </a:srgbClr>
          </a:solidFill>
          <a:ln/>
        </p:spPr>
      </p:sp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5975" y="9906000"/>
            <a:ext cx="228600" cy="228600"/>
          </a:xfrm>
          <a:prstGeom prst="ellipse">
            <a:avLst/>
          </a:prstGeom>
        </p:spPr>
      </p:pic>
      <p:sp>
        <p:nvSpPr>
          <p:cNvPr id="7" name="Shape 1"/>
          <p:cNvSpPr/>
          <p:nvPr/>
        </p:nvSpPr>
        <p:spPr>
          <a:xfrm>
            <a:off x="1371600" y="1343819"/>
            <a:ext cx="155448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8" name="Shape 2"/>
          <p:cNvSpPr/>
          <p:nvPr/>
        </p:nvSpPr>
        <p:spPr>
          <a:xfrm>
            <a:off x="1371600" y="914400"/>
            <a:ext cx="15544800" cy="19050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9" name="Text 3"/>
          <p:cNvSpPr/>
          <p:nvPr/>
        </p:nvSpPr>
        <p:spPr>
          <a:xfrm>
            <a:off x="1371600" y="1066800"/>
            <a:ext cx="1045468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11F1D">
                    <a:alpha val="52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第三部分</a:t>
            </a:r>
            <a:endParaRPr lang="en-US" sz="1800" dirty="0"/>
          </a:p>
        </p:txBody>
      </p:sp>
      <p:sp>
        <p:nvSpPr>
          <p:cNvPr id="10" name="Text 4"/>
          <p:cNvSpPr/>
          <p:nvPr/>
        </p:nvSpPr>
        <p:spPr>
          <a:xfrm>
            <a:off x="16150333" y="1066800"/>
            <a:ext cx="842268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11F1D">
                    <a:alpha val="52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03 / 04</a:t>
            </a:r>
            <a:endParaRPr lang="en-US" sz="1800" dirty="0"/>
          </a:p>
        </p:txBody>
      </p:sp>
      <p:sp>
        <p:nvSpPr>
          <p:cNvPr id="11" name="Text 5"/>
          <p:cNvSpPr/>
          <p:nvPr/>
        </p:nvSpPr>
        <p:spPr>
          <a:xfrm>
            <a:off x="1350963" y="2378869"/>
            <a:ext cx="17121982" cy="4337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69"/>
              </a:lnSpc>
              <a:buNone/>
            </a:pPr>
            <a:r>
              <a:rPr lang="en-US" sz="4650" b="1" spc="-70" kern="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AI 能力与检索链路</a:t>
            </a:r>
            <a:endParaRPr lang="en-US" sz="4650" dirty="0"/>
          </a:p>
        </p:txBody>
      </p:sp>
      <p:sp>
        <p:nvSpPr>
          <p:cNvPr id="12" name="Shape 6"/>
          <p:cNvSpPr/>
          <p:nvPr/>
        </p:nvSpPr>
        <p:spPr>
          <a:xfrm>
            <a:off x="1371600" y="3546078"/>
            <a:ext cx="85725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13" name="Text 7"/>
          <p:cNvSpPr/>
          <p:nvPr/>
        </p:nvSpPr>
        <p:spPr>
          <a:xfrm>
            <a:off x="1371600" y="3736677"/>
            <a:ext cx="318095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13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1918295" y="3704828"/>
            <a:ext cx="2598529" cy="223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375"/>
              </a:lnSpc>
              <a:buNone/>
            </a:pPr>
            <a:r>
              <a:rPr lang="en-US" sz="2175" dirty="0">
                <a:solidFill>
                  <a:srgbClr val="201F1D">
                    <a:alpha val="62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两个 AI 框架的分工</a:t>
            </a:r>
            <a:endParaRPr lang="en-US" sz="2175" dirty="0"/>
          </a:p>
        </p:txBody>
      </p:sp>
      <p:sp>
        <p:nvSpPr>
          <p:cNvPr id="15" name="Text 9"/>
          <p:cNvSpPr/>
          <p:nvPr/>
        </p:nvSpPr>
        <p:spPr>
          <a:xfrm>
            <a:off x="9540379" y="3736677"/>
            <a:ext cx="479921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dirty="0">
                <a:solidFill>
                  <a:srgbClr val="201E1E">
                    <a:alpha val="40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 列</a:t>
            </a:r>
            <a:endParaRPr lang="en-US" sz="1800" dirty="0"/>
          </a:p>
        </p:txBody>
      </p:sp>
      <p:sp>
        <p:nvSpPr>
          <p:cNvPr id="16" name="Shape 10"/>
          <p:cNvSpPr/>
          <p:nvPr/>
        </p:nvSpPr>
        <p:spPr>
          <a:xfrm>
            <a:off x="1371600" y="4042271"/>
            <a:ext cx="85725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17" name="Text 11"/>
          <p:cNvSpPr/>
          <p:nvPr/>
        </p:nvSpPr>
        <p:spPr>
          <a:xfrm>
            <a:off x="1371600" y="4232870"/>
            <a:ext cx="318095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14</a:t>
            </a:r>
            <a:endParaRPr lang="en-US" sz="1800" dirty="0"/>
          </a:p>
        </p:txBody>
      </p:sp>
      <p:sp>
        <p:nvSpPr>
          <p:cNvPr id="18" name="Text 12"/>
          <p:cNvSpPr/>
          <p:nvPr/>
        </p:nvSpPr>
        <p:spPr>
          <a:xfrm>
            <a:off x="1918295" y="4201021"/>
            <a:ext cx="3139758" cy="223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375"/>
              </a:lnSpc>
              <a:buNone/>
            </a:pPr>
            <a:r>
              <a:rPr lang="en-US" sz="2175" dirty="0">
                <a:solidFill>
                  <a:srgbClr val="201F1D">
                    <a:alpha val="62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RAG 流水线与召回漏斗</a:t>
            </a:r>
            <a:endParaRPr lang="en-US" sz="2175" dirty="0"/>
          </a:p>
        </p:txBody>
      </p:sp>
      <p:sp>
        <p:nvSpPr>
          <p:cNvPr id="19" name="Text 13"/>
          <p:cNvSpPr/>
          <p:nvPr/>
        </p:nvSpPr>
        <p:spPr>
          <a:xfrm>
            <a:off x="9540379" y="4232870"/>
            <a:ext cx="479921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dirty="0">
                <a:solidFill>
                  <a:srgbClr val="201E1E">
                    <a:alpha val="40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图 4</a:t>
            </a:r>
            <a:endParaRPr lang="en-US" sz="1800" dirty="0"/>
          </a:p>
        </p:txBody>
      </p:sp>
      <p:sp>
        <p:nvSpPr>
          <p:cNvPr id="20" name="Shape 14"/>
          <p:cNvSpPr/>
          <p:nvPr/>
        </p:nvSpPr>
        <p:spPr>
          <a:xfrm>
            <a:off x="1371600" y="4538464"/>
            <a:ext cx="85725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21" name="Text 15"/>
          <p:cNvSpPr/>
          <p:nvPr/>
        </p:nvSpPr>
        <p:spPr>
          <a:xfrm>
            <a:off x="1371600" y="4729063"/>
            <a:ext cx="318095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15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1918295" y="4697214"/>
            <a:ext cx="2734628" cy="223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375"/>
              </a:lnSpc>
              <a:buNone/>
            </a:pPr>
            <a:r>
              <a:rPr lang="en-US" sz="2175" dirty="0">
                <a:solidFill>
                  <a:srgbClr val="201F1D">
                    <a:alpha val="62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加权精排的判定阈值</a:t>
            </a:r>
            <a:endParaRPr lang="en-US" sz="2175" dirty="0"/>
          </a:p>
        </p:txBody>
      </p:sp>
      <p:sp>
        <p:nvSpPr>
          <p:cNvPr id="23" name="Text 17"/>
          <p:cNvSpPr/>
          <p:nvPr/>
        </p:nvSpPr>
        <p:spPr>
          <a:xfrm>
            <a:off x="9540379" y="4729063"/>
            <a:ext cx="479921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dirty="0">
                <a:solidFill>
                  <a:srgbClr val="201E1E">
                    <a:alpha val="40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图 5</a:t>
            </a:r>
            <a:endParaRPr lang="en-US" sz="1800" dirty="0"/>
          </a:p>
        </p:txBody>
      </p:sp>
      <p:sp>
        <p:nvSpPr>
          <p:cNvPr id="24" name="Shape 18"/>
          <p:cNvSpPr/>
          <p:nvPr/>
        </p:nvSpPr>
        <p:spPr>
          <a:xfrm>
            <a:off x="1371600" y="5034657"/>
            <a:ext cx="85725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25" name="Text 19"/>
          <p:cNvSpPr/>
          <p:nvPr/>
        </p:nvSpPr>
        <p:spPr>
          <a:xfrm>
            <a:off x="1371600" y="5225257"/>
            <a:ext cx="318095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16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1918295" y="5193407"/>
            <a:ext cx="2430780" cy="223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375"/>
              </a:lnSpc>
              <a:buNone/>
            </a:pPr>
            <a:r>
              <a:rPr lang="en-US" sz="2175" dirty="0">
                <a:solidFill>
                  <a:srgbClr val="201F1D">
                    <a:alpha val="62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多模态化验单识别</a:t>
            </a:r>
            <a:endParaRPr lang="en-US" sz="2175" dirty="0"/>
          </a:p>
        </p:txBody>
      </p:sp>
      <p:sp>
        <p:nvSpPr>
          <p:cNvPr id="27" name="Text 21"/>
          <p:cNvSpPr/>
          <p:nvPr/>
        </p:nvSpPr>
        <p:spPr>
          <a:xfrm>
            <a:off x="9540379" y="5225257"/>
            <a:ext cx="479921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dirty="0">
                <a:solidFill>
                  <a:srgbClr val="201E1E">
                    <a:alpha val="40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表 3</a:t>
            </a:r>
            <a:endParaRPr lang="en-US" sz="1800" dirty="0"/>
          </a:p>
        </p:txBody>
      </p:sp>
      <p:sp>
        <p:nvSpPr>
          <p:cNvPr id="28" name="Shape 22"/>
          <p:cNvSpPr/>
          <p:nvPr/>
        </p:nvSpPr>
        <p:spPr>
          <a:xfrm>
            <a:off x="1371600" y="5530850"/>
            <a:ext cx="85725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29" name="Text 23"/>
          <p:cNvSpPr/>
          <p:nvPr/>
        </p:nvSpPr>
        <p:spPr>
          <a:xfrm>
            <a:off x="1371600" y="5721450"/>
            <a:ext cx="318095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17</a:t>
            </a:r>
            <a:endParaRPr lang="en-US" sz="1800" dirty="0"/>
          </a:p>
        </p:txBody>
      </p:sp>
      <p:sp>
        <p:nvSpPr>
          <p:cNvPr id="30" name="Text 24"/>
          <p:cNvSpPr/>
          <p:nvPr/>
        </p:nvSpPr>
        <p:spPr>
          <a:xfrm>
            <a:off x="1918295" y="5689600"/>
            <a:ext cx="2430780" cy="223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375"/>
              </a:lnSpc>
              <a:buNone/>
            </a:pPr>
            <a:r>
              <a:rPr lang="en-US" sz="2175" dirty="0">
                <a:solidFill>
                  <a:srgbClr val="201F1D">
                    <a:alpha val="62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急诊关键词安全网</a:t>
            </a:r>
            <a:endParaRPr lang="en-US" sz="2175" dirty="0"/>
          </a:p>
        </p:txBody>
      </p:sp>
      <p:sp>
        <p:nvSpPr>
          <p:cNvPr id="31" name="Text 25"/>
          <p:cNvSpPr/>
          <p:nvPr/>
        </p:nvSpPr>
        <p:spPr>
          <a:xfrm>
            <a:off x="9486900" y="5721450"/>
            <a:ext cx="533400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dirty="0">
                <a:solidFill>
                  <a:srgbClr val="201E1E">
                    <a:alpha val="40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要点</a:t>
            </a:r>
            <a:endParaRPr lang="en-US" sz="1800" dirty="0"/>
          </a:p>
        </p:txBody>
      </p:sp>
      <p:sp>
        <p:nvSpPr>
          <p:cNvPr id="32" name="Shape 26"/>
          <p:cNvSpPr/>
          <p:nvPr/>
        </p:nvSpPr>
        <p:spPr>
          <a:xfrm>
            <a:off x="799505" y="6459935"/>
            <a:ext cx="2763937" cy="1906786"/>
          </a:xfrm>
          <a:prstGeom prst="rect">
            <a:avLst/>
          </a:prstGeom>
          <a:solidFill>
            <a:srgbClr val="F3F2F2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505" y="6459935"/>
            <a:ext cx="2763937" cy="1906786"/>
          </a:xfrm>
          <a:prstGeom prst="rect">
            <a:avLst/>
          </a:prstGeom>
        </p:spPr>
      </p:pic>
      <p:sp>
        <p:nvSpPr>
          <p:cNvPr id="34" name="Shape 27"/>
          <p:cNvSpPr/>
          <p:nvPr/>
        </p:nvSpPr>
        <p:spPr>
          <a:xfrm>
            <a:off x="1371600" y="9079706"/>
            <a:ext cx="155448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35" name="Text 28"/>
          <p:cNvSpPr/>
          <p:nvPr/>
        </p:nvSpPr>
        <p:spPr>
          <a:xfrm>
            <a:off x="1371600" y="9219406"/>
            <a:ext cx="3371681" cy="191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01E1E">
                    <a:alpha val="44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康识问诊 · 技术汇报 · REV.4</a:t>
            </a:r>
            <a:endParaRPr lang="en-US" sz="1800" dirty="0"/>
          </a:p>
        </p:txBody>
      </p:sp>
      <p:sp>
        <p:nvSpPr>
          <p:cNvPr id="36" name="Text 29"/>
          <p:cNvSpPr/>
          <p:nvPr/>
        </p:nvSpPr>
        <p:spPr>
          <a:xfrm>
            <a:off x="16150333" y="9219406"/>
            <a:ext cx="842268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01E1E">
                    <a:alpha val="44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12 / 24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343819"/>
            <a:ext cx="155448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914400"/>
            <a:ext cx="15544800" cy="19050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066800"/>
            <a:ext cx="2714109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03 </a:t>
            </a:r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11F1D">
                    <a:alpha val="52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AI 能力与检索链路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810482" y="1066800"/>
            <a:ext cx="2316510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11F1D">
                    <a:alpha val="52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两个 AI 框架的分工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33400" y="4465638"/>
            <a:ext cx="345579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1F1F1F">
                    <a:alpha val="2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33400" y="4866481"/>
            <a:ext cx="345579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1F1F1F">
                    <a:alpha val="2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33400" y="5267325"/>
            <a:ext cx="345579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03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33400" y="5668169"/>
            <a:ext cx="345579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1F1F1F">
                    <a:alpha val="2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04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50963" y="1769269"/>
            <a:ext cx="17121982" cy="4337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69"/>
              </a:lnSpc>
              <a:buNone/>
            </a:pPr>
            <a:r>
              <a:rPr lang="en-US" sz="4650" b="1" spc="-70" kern="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两个 AI 框架的分工</a:t>
            </a:r>
            <a:endParaRPr lang="en-US" sz="4650" dirty="0"/>
          </a:p>
        </p:txBody>
      </p:sp>
      <p:sp>
        <p:nvSpPr>
          <p:cNvPr id="11" name="Text 9"/>
          <p:cNvSpPr/>
          <p:nvPr/>
        </p:nvSpPr>
        <p:spPr>
          <a:xfrm>
            <a:off x="1371600" y="2545953"/>
            <a:ext cx="15430521" cy="223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75" dirty="0">
                <a:solidFill>
                  <a:srgbClr val="201E1D">
                    <a:alpha val="6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各管一层，职责不重叠：前者负责「怎么说」，后者负责「说什么有依据」。</a:t>
            </a:r>
            <a:endParaRPr lang="en-US" sz="2175" dirty="0"/>
          </a:p>
        </p:txBody>
      </p:sp>
      <p:sp>
        <p:nvSpPr>
          <p:cNvPr id="12" name="Shape 10"/>
          <p:cNvSpPr/>
          <p:nvPr/>
        </p:nvSpPr>
        <p:spPr>
          <a:xfrm>
            <a:off x="1371600" y="3846215"/>
            <a:ext cx="73152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3502521"/>
            <a:ext cx="8046720" cy="191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对话层 · SPRING AI 2.0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4081165"/>
            <a:ext cx="8046720" cy="255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600"/>
              </a:lnSpc>
              <a:buNone/>
            </a:pPr>
            <a:r>
              <a:rPr lang="en-US" sz="2550" b="1" spc="-38" kern="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ChatClient 管生成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1371600" y="4595515"/>
            <a:ext cx="7534656" cy="2280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0" marL="0">
              <a:lnSpc>
                <a:spcPct val="135000"/>
              </a:lnSpc>
              <a:buNone/>
            </a:pPr>
            <a:r>
              <a:rPr lang="en-US" sz="2175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流式问答通过 ChatClient 走 OpenAI 兼容接口，默认 DeepSeek 多模态视觉模型，temperature 0.35，超时 90 秒。随消息上传的图片以 base64 一并送模型直接观察 —— 皮损照片、药盒、化验单共用这一条视觉通道，最多 4 张，问题限 500 字，上下文保留最近 6 轮。</a:t>
            </a:r>
            <a:endParaRPr lang="en-US" sz="2175" dirty="0"/>
          </a:p>
        </p:txBody>
      </p:sp>
      <p:sp>
        <p:nvSpPr>
          <p:cNvPr id="16" name="Shape 14"/>
          <p:cNvSpPr/>
          <p:nvPr/>
        </p:nvSpPr>
        <p:spPr>
          <a:xfrm>
            <a:off x="9601200" y="3846215"/>
            <a:ext cx="73152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0" y="3502521"/>
            <a:ext cx="8046720" cy="191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检索层 · LANGCHAIN4J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01200" y="4081165"/>
            <a:ext cx="8046720" cy="255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600"/>
              </a:lnSpc>
              <a:buNone/>
            </a:pPr>
            <a:r>
              <a:rPr lang="en-US" sz="2550" b="1" spc="-38" kern="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流水线管依据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9601200" y="4595515"/>
            <a:ext cx="7534656" cy="2280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0" marL="0">
              <a:lnSpc>
                <a:spcPct val="135000"/>
              </a:lnSpc>
              <a:buNone/>
            </a:pPr>
            <a:r>
              <a:rPr lang="en-US" sz="2175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入库与召回全部走官方组件：DocumentSplitters 按 600 字切分、重叠 80 字；EmbeddingStoreContentRetriever 检索，自研的 VectorStoreEmbeddingStore 把 Milvus 适配成 EmbeddingStore；DefaultRetrievalAugmentor 做增强。知识库对不上时不硬套检索结果。</a:t>
            </a:r>
            <a:endParaRPr lang="en-US" sz="2175" dirty="0"/>
          </a:p>
        </p:txBody>
      </p:sp>
      <p:sp>
        <p:nvSpPr>
          <p:cNvPr id="20" name="Shape 18"/>
          <p:cNvSpPr/>
          <p:nvPr/>
        </p:nvSpPr>
        <p:spPr>
          <a:xfrm>
            <a:off x="1371600" y="7257058"/>
            <a:ext cx="155448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371600" y="7498358"/>
            <a:ext cx="495300" cy="39241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01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790700" y="7492008"/>
            <a:ext cx="4434459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15"/>
              </a:lnSpc>
              <a:buNone/>
            </a:pPr>
            <a:r>
              <a:rPr lang="en-US" sz="1875" dirty="0">
                <a:solidFill>
                  <a:srgbClr val="201E1D">
                    <a:alpha val="6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两个框架最初都只是 pom 里的依赖声明，现在全链路在跑，无自研替代品。</a:t>
            </a:r>
            <a:endParaRPr lang="en-US" sz="1875" dirty="0"/>
          </a:p>
        </p:txBody>
      </p:sp>
      <p:sp>
        <p:nvSpPr>
          <p:cNvPr id="23" name="Text 21"/>
          <p:cNvSpPr/>
          <p:nvPr/>
        </p:nvSpPr>
        <p:spPr>
          <a:xfrm>
            <a:off x="6781800" y="7498358"/>
            <a:ext cx="495300" cy="39241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02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200900" y="7492008"/>
            <a:ext cx="4434459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15"/>
              </a:lnSpc>
              <a:buNone/>
            </a:pPr>
            <a:r>
              <a:rPr lang="en-US" sz="1875" dirty="0">
                <a:solidFill>
                  <a:srgbClr val="201E1D">
                    <a:alpha val="6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视觉通道复用：问答图片与化验单转写走同一条 base64 路径，不重复实现。</a:t>
            </a:r>
            <a:endParaRPr lang="en-US" sz="1875" dirty="0"/>
          </a:p>
        </p:txBody>
      </p:sp>
      <p:sp>
        <p:nvSpPr>
          <p:cNvPr id="25" name="Text 23"/>
          <p:cNvSpPr/>
          <p:nvPr/>
        </p:nvSpPr>
        <p:spPr>
          <a:xfrm>
            <a:off x="12192000" y="7498358"/>
            <a:ext cx="495300" cy="39241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03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611100" y="7492008"/>
            <a:ext cx="4434459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15"/>
              </a:lnSpc>
              <a:buNone/>
            </a:pPr>
            <a:r>
              <a:rPr lang="en-US" sz="1875" dirty="0">
                <a:solidFill>
                  <a:srgbClr val="201E1D">
                    <a:alpha val="6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切分与检索参数集中在配置里，换模型只需改 embedding 服务与阈值。</a:t>
            </a:r>
            <a:endParaRPr lang="en-US" sz="1875" dirty="0"/>
          </a:p>
        </p:txBody>
      </p:sp>
      <p:sp>
        <p:nvSpPr>
          <p:cNvPr id="27" name="Shape 25"/>
          <p:cNvSpPr/>
          <p:nvPr/>
        </p:nvSpPr>
        <p:spPr>
          <a:xfrm>
            <a:off x="1371600" y="9079706"/>
            <a:ext cx="155448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1371600" y="9219406"/>
            <a:ext cx="3371681" cy="191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01E1E">
                    <a:alpha val="44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康识问诊 · 技术汇报 · REV.4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6150333" y="9219406"/>
            <a:ext cx="842268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01E1E">
                    <a:alpha val="44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13 / 24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343819"/>
            <a:ext cx="155448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914400"/>
            <a:ext cx="15544800" cy="19050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066800"/>
            <a:ext cx="2714109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03 </a:t>
            </a:r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11F1D">
                    <a:alpha val="52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AI 能力与检索链路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5601256" y="1066800"/>
            <a:ext cx="1446659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11F1D">
                    <a:alpha val="52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RAG 流水线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33400" y="4465638"/>
            <a:ext cx="345579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1F1F1F">
                    <a:alpha val="2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33400" y="4866481"/>
            <a:ext cx="345579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1F1F1F">
                    <a:alpha val="2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33400" y="5267325"/>
            <a:ext cx="345579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03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33400" y="5668169"/>
            <a:ext cx="345579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1F1F1F">
                    <a:alpha val="2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04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50963" y="1769269"/>
            <a:ext cx="17121982" cy="4337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69"/>
              </a:lnSpc>
              <a:buNone/>
            </a:pPr>
            <a:r>
              <a:rPr lang="en-US" sz="4650" b="1" spc="-70" kern="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RAG 流水线</a:t>
            </a:r>
            <a:endParaRPr lang="en-US" sz="4650" dirty="0"/>
          </a:p>
        </p:txBody>
      </p:sp>
      <p:sp>
        <p:nvSpPr>
          <p:cNvPr id="11" name="Text 9"/>
          <p:cNvSpPr/>
          <p:nvPr/>
        </p:nvSpPr>
        <p:spPr>
          <a:xfrm>
            <a:off x="1371600" y="2584053"/>
            <a:ext cx="521097" cy="39241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图 4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045097" y="2684859"/>
            <a:ext cx="5064453" cy="191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01E1E">
                    <a:alpha val="50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五段流水线与召回漏斗，第四段为自研环节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509974" y="2684859"/>
            <a:ext cx="1547068" cy="191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01E1E">
                    <a:alpha val="50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来源 · rag 包</a:t>
            </a:r>
            <a:endParaRPr lang="en-US" sz="18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3166963"/>
            <a:ext cx="15544800" cy="238125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371600" y="6191151"/>
            <a:ext cx="638473" cy="39548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217"/>
              </a:lnSpc>
              <a:buNone/>
            </a:pPr>
            <a:r>
              <a:rPr lang="en-US" sz="4200" b="1" spc="-84" kern="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88</a:t>
            </a:r>
            <a:endParaRPr lang="en-US" sz="4200" dirty="0"/>
          </a:p>
        </p:txBody>
      </p:sp>
      <p:sp>
        <p:nvSpPr>
          <p:cNvPr id="16" name="Text 13"/>
          <p:cNvSpPr/>
          <p:nvPr/>
        </p:nvSpPr>
        <p:spPr>
          <a:xfrm>
            <a:off x="2105323" y="6395343"/>
            <a:ext cx="1045468" cy="191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11D1D">
                    <a:alpha val="55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库内向量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3493691" y="6344345"/>
            <a:ext cx="399355" cy="2422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727"/>
              </a:lnSpc>
              <a:buNone/>
            </a:pPr>
            <a:r>
              <a:rPr lang="en-US" sz="2400" spc="144" kern="0" dirty="0">
                <a:solidFill>
                  <a:srgbClr val="201D1D">
                    <a:alpha val="35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4235946" y="6191151"/>
            <a:ext cx="638473" cy="39548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217"/>
              </a:lnSpc>
              <a:buNone/>
            </a:pPr>
            <a:r>
              <a:rPr lang="en-US" sz="4200" b="1" spc="-84" kern="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24</a:t>
            </a:r>
            <a:endParaRPr lang="en-US" sz="4200" dirty="0"/>
          </a:p>
        </p:txBody>
      </p:sp>
      <p:sp>
        <p:nvSpPr>
          <p:cNvPr id="19" name="Text 16"/>
          <p:cNvSpPr/>
          <p:nvPr/>
        </p:nvSpPr>
        <p:spPr>
          <a:xfrm>
            <a:off x="4969669" y="6395343"/>
            <a:ext cx="1045468" cy="191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11D1D">
                    <a:alpha val="55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召回候选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6358037" y="6344345"/>
            <a:ext cx="399355" cy="2422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727"/>
              </a:lnSpc>
              <a:buNone/>
            </a:pPr>
            <a:r>
              <a:rPr lang="en-US" sz="2400" spc="144" kern="0" dirty="0">
                <a:solidFill>
                  <a:srgbClr val="201D1D">
                    <a:alpha val="35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→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7100292" y="6191151"/>
            <a:ext cx="357386" cy="39548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217"/>
              </a:lnSpc>
              <a:buNone/>
            </a:pPr>
            <a:r>
              <a:rPr lang="en-US" sz="4200" b="1" spc="-84" kern="0" dirty="0">
                <a:solidFill>
                  <a:srgbClr val="00678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5</a:t>
            </a:r>
            <a:endParaRPr lang="en-US" sz="4200" dirty="0"/>
          </a:p>
        </p:txBody>
      </p:sp>
      <p:sp>
        <p:nvSpPr>
          <p:cNvPr id="22" name="Text 19"/>
          <p:cNvSpPr/>
          <p:nvPr/>
        </p:nvSpPr>
        <p:spPr>
          <a:xfrm>
            <a:off x="7552929" y="6395343"/>
            <a:ext cx="1332825" cy="191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注入提示词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1371600" y="6967637"/>
            <a:ext cx="155448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1371600" y="7208937"/>
            <a:ext cx="495300" cy="39241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01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790700" y="7202587"/>
            <a:ext cx="4434459" cy="1123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15"/>
              </a:lnSpc>
              <a:buNone/>
            </a:pPr>
            <a:r>
              <a:rPr lang="en-US" sz="1875" dirty="0">
                <a:solidFill>
                  <a:srgbClr val="201E1D">
                    <a:alpha val="6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切分 600 字、重叠 80 字由 DocumentSplitters 承担，中文按标点回退切点。</a:t>
            </a:r>
            <a:endParaRPr lang="en-US" sz="1875" dirty="0"/>
          </a:p>
        </p:txBody>
      </p:sp>
      <p:sp>
        <p:nvSpPr>
          <p:cNvPr id="26" name="Text 23"/>
          <p:cNvSpPr/>
          <p:nvPr/>
        </p:nvSpPr>
        <p:spPr>
          <a:xfrm>
            <a:off x="6781800" y="7208937"/>
            <a:ext cx="495300" cy="39241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02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7200900" y="7202587"/>
            <a:ext cx="4434459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15"/>
              </a:lnSpc>
              <a:buNone/>
            </a:pPr>
            <a:r>
              <a:rPr lang="en-US" sz="1875" dirty="0">
                <a:solidFill>
                  <a:srgbClr val="201E1D">
                    <a:alpha val="6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召回 24 条为精排留出候选余量；问答注入 5 条，检索诊断页放宽到 8 条。</a:t>
            </a:r>
            <a:endParaRPr lang="en-US" sz="1875" dirty="0"/>
          </a:p>
        </p:txBody>
      </p:sp>
      <p:sp>
        <p:nvSpPr>
          <p:cNvPr id="28" name="Text 25"/>
          <p:cNvSpPr/>
          <p:nvPr/>
        </p:nvSpPr>
        <p:spPr>
          <a:xfrm>
            <a:off x="12192000" y="7208937"/>
            <a:ext cx="495300" cy="39241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03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12611100" y="7202587"/>
            <a:ext cx="4434459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15"/>
              </a:lnSpc>
              <a:buNone/>
            </a:pPr>
            <a:r>
              <a:rPr lang="en-US" sz="1875" dirty="0">
                <a:solidFill>
                  <a:srgbClr val="201E1D">
                    <a:alpha val="6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综合分低于 0.55 即判定「知识库对不上」，宁可不答也不串台。</a:t>
            </a:r>
            <a:endParaRPr lang="en-US" sz="1875" dirty="0"/>
          </a:p>
        </p:txBody>
      </p:sp>
      <p:sp>
        <p:nvSpPr>
          <p:cNvPr id="30" name="Shape 27"/>
          <p:cNvSpPr/>
          <p:nvPr/>
        </p:nvSpPr>
        <p:spPr>
          <a:xfrm>
            <a:off x="1371600" y="9079706"/>
            <a:ext cx="155448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31" name="Text 28"/>
          <p:cNvSpPr/>
          <p:nvPr/>
        </p:nvSpPr>
        <p:spPr>
          <a:xfrm>
            <a:off x="1371600" y="9219406"/>
            <a:ext cx="3371681" cy="191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01E1E">
                    <a:alpha val="44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康识问诊 · 技术汇报 · REV.4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16150333" y="9219406"/>
            <a:ext cx="842268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01E1E">
                    <a:alpha val="44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14 / 24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343819"/>
            <a:ext cx="155448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914400"/>
            <a:ext cx="15544800" cy="19050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066800"/>
            <a:ext cx="2714109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03 </a:t>
            </a:r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11F1D">
                    <a:alpha val="52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AI 能力与检索链路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735473" y="1066800"/>
            <a:ext cx="2399020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11F1D">
                    <a:alpha val="52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加权精排的判定阈值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33400" y="4465638"/>
            <a:ext cx="345579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1F1F1F">
                    <a:alpha val="2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33400" y="4866481"/>
            <a:ext cx="345579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1F1F1F">
                    <a:alpha val="2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33400" y="5267325"/>
            <a:ext cx="345579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03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33400" y="5668169"/>
            <a:ext cx="345579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1F1F1F">
                    <a:alpha val="2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04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50963" y="1769269"/>
            <a:ext cx="17121982" cy="4337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69"/>
              </a:lnSpc>
              <a:buNone/>
            </a:pPr>
            <a:r>
              <a:rPr lang="en-US" sz="4650" b="1" spc="-70" kern="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加权精排的判定阈值</a:t>
            </a:r>
            <a:endParaRPr lang="en-US" sz="4650" dirty="0"/>
          </a:p>
        </p:txBody>
      </p:sp>
      <p:sp>
        <p:nvSpPr>
          <p:cNvPr id="11" name="Text 9"/>
          <p:cNvSpPr/>
          <p:nvPr/>
        </p:nvSpPr>
        <p:spPr>
          <a:xfrm>
            <a:off x="1371600" y="2584053"/>
            <a:ext cx="521097" cy="39241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图 5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045097" y="2684859"/>
            <a:ext cx="5064453" cy="191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01E1E">
                    <a:alpha val="50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提问「心梗后要注意什么」的三条候选评分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835904" y="2684859"/>
            <a:ext cx="5588546" cy="191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01E1E">
                    <a:alpha val="50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来源 · /api/knowledge/vectors/inspect 实测</a:t>
            </a:r>
            <a:endParaRPr lang="en-US" sz="18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71600" y="3166963"/>
            <a:ext cx="15544800" cy="34290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371600" y="6900764"/>
            <a:ext cx="1085850" cy="191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向量分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2686050" y="6900764"/>
            <a:ext cx="3814356" cy="191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综合分 = 向量 × 0.7 + 词法 × 0.3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458446" y="6900764"/>
            <a:ext cx="1896755" cy="191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判定阈值 0.55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1371600" y="7473057"/>
            <a:ext cx="155448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1371600" y="7714357"/>
            <a:ext cx="495300" cy="39241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01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790700" y="7708007"/>
            <a:ext cx="4434459" cy="1123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15"/>
              </a:lnSpc>
              <a:buNone/>
            </a:pPr>
            <a:r>
              <a:rPr lang="en-US" sz="1875" dirty="0">
                <a:solidFill>
                  <a:srgbClr val="201E1D">
                    <a:alpha val="6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三条候选的词法分均为 0：「心梗」与正文「心肌梗死」无字面重合，向量分独自决定结果。</a:t>
            </a:r>
            <a:endParaRPr lang="en-US" sz="1875" dirty="0"/>
          </a:p>
        </p:txBody>
      </p:sp>
      <p:sp>
        <p:nvSpPr>
          <p:cNvPr id="21" name="Text 18"/>
          <p:cNvSpPr/>
          <p:nvPr/>
        </p:nvSpPr>
        <p:spPr>
          <a:xfrm>
            <a:off x="6781800" y="7714357"/>
            <a:ext cx="495300" cy="39241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02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7200900" y="7708007"/>
            <a:ext cx="4434459" cy="1123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15"/>
              </a:lnSpc>
              <a:buNone/>
            </a:pPr>
            <a:r>
              <a:rPr lang="en-US" sz="1875" dirty="0">
                <a:solidFill>
                  <a:srgbClr val="201E1D">
                    <a:alpha val="6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无真实 embedding 时改走 lexical-filter：向量分不参与判定，字面不沾边的一律丢弃。</a:t>
            </a:r>
            <a:endParaRPr lang="en-US" sz="1875" dirty="0"/>
          </a:p>
        </p:txBody>
      </p:sp>
      <p:sp>
        <p:nvSpPr>
          <p:cNvPr id="23" name="Text 20"/>
          <p:cNvSpPr/>
          <p:nvPr/>
        </p:nvSpPr>
        <p:spPr>
          <a:xfrm>
            <a:off x="12192000" y="7714357"/>
            <a:ext cx="495300" cy="39241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03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12611100" y="7708007"/>
            <a:ext cx="4434459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15"/>
              </a:lnSpc>
              <a:buNone/>
            </a:pPr>
            <a:r>
              <a:rPr lang="en-US" sz="1875" dirty="0">
                <a:solidFill>
                  <a:srgbClr val="201E1D">
                    <a:alpha val="6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医学别名表 MedicalSynonyms 两种模式共用，覆盖心梗、拉肚子等口语说法。</a:t>
            </a:r>
            <a:endParaRPr lang="en-US" sz="1875" dirty="0"/>
          </a:p>
        </p:txBody>
      </p:sp>
      <p:sp>
        <p:nvSpPr>
          <p:cNvPr id="25" name="Shape 22"/>
          <p:cNvSpPr/>
          <p:nvPr/>
        </p:nvSpPr>
        <p:spPr>
          <a:xfrm>
            <a:off x="1371600" y="9079706"/>
            <a:ext cx="155448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1371600" y="9219406"/>
            <a:ext cx="3371681" cy="191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01E1E">
                    <a:alpha val="44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康识问诊 · 技术汇报 · REV.4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16150333" y="9219406"/>
            <a:ext cx="842268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01E1E">
                    <a:alpha val="44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15 / 24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343819"/>
            <a:ext cx="155448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914400"/>
            <a:ext cx="15544800" cy="19050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066800"/>
            <a:ext cx="2714109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03 </a:t>
            </a:r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11F1D">
                    <a:alpha val="52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AI 能力与检索链路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977865" y="1066800"/>
            <a:ext cx="2132390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11F1D">
                    <a:alpha val="52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多模态化验单识别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33400" y="4465638"/>
            <a:ext cx="345579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1F1F1F">
                    <a:alpha val="2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33400" y="4866481"/>
            <a:ext cx="345579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1F1F1F">
                    <a:alpha val="2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33400" y="5267325"/>
            <a:ext cx="345579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03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33400" y="5668169"/>
            <a:ext cx="345579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1F1F1F">
                    <a:alpha val="2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04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50963" y="1769269"/>
            <a:ext cx="17121982" cy="4337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69"/>
              </a:lnSpc>
              <a:buNone/>
            </a:pPr>
            <a:r>
              <a:rPr lang="en-US" sz="4650" b="1" spc="-70" kern="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多模态化验单识别</a:t>
            </a:r>
            <a:endParaRPr lang="en-US" sz="4650" dirty="0"/>
          </a:p>
        </p:txBody>
      </p:sp>
      <p:sp>
        <p:nvSpPr>
          <p:cNvPr id="11" name="Text 9"/>
          <p:cNvSpPr/>
          <p:nvPr/>
        </p:nvSpPr>
        <p:spPr>
          <a:xfrm>
            <a:off x="1371600" y="2545953"/>
            <a:ext cx="14448578" cy="7374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75" dirty="0">
                <a:solidFill>
                  <a:srgbClr val="201E1D">
                    <a:alpha val="6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图片报告不走传统 OCR 引擎，直接交给多模态模型转写，复用问答同一条视觉通道，再进入原有「解析 → 解读 → 写入档案」链路。</a:t>
            </a:r>
            <a:endParaRPr lang="en-US" sz="2175" dirty="0"/>
          </a:p>
        </p:txBody>
      </p:sp>
      <p:sp>
        <p:nvSpPr>
          <p:cNvPr id="12" name="Text 10"/>
          <p:cNvSpPr/>
          <p:nvPr/>
        </p:nvSpPr>
        <p:spPr>
          <a:xfrm>
            <a:off x="1371600" y="3664446"/>
            <a:ext cx="521097" cy="39241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表 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045097" y="3765252"/>
            <a:ext cx="8236843" cy="191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01E1E">
                    <a:alpha val="50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一张真实检验报告照片的实测读数 · 灰带为参考区间，蓝线为本次结果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355491" y="3765252"/>
            <a:ext cx="1717000" cy="191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01E1E">
                    <a:alpha val="50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11 / 11 项正确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371600" y="5169694"/>
            <a:ext cx="155448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371600" y="4772422"/>
            <a:ext cx="647700" cy="191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11F1D">
                    <a:alpha val="52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序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209800" y="4772422"/>
            <a:ext cx="2514600" cy="191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11F1D">
                    <a:alpha val="52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项目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686300" y="4772422"/>
            <a:ext cx="1123950" cy="191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11F1D">
                    <a:alpha val="52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结果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076950" y="4772422"/>
            <a:ext cx="1219200" cy="191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11F1D">
                    <a:alpha val="52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单位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486650" y="4772422"/>
            <a:ext cx="1990725" cy="191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11F1D">
                    <a:alpha val="52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参考区间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563100" y="4772422"/>
            <a:ext cx="6789420" cy="191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11F1D">
                    <a:alpha val="52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标尺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5925800" y="4772422"/>
            <a:ext cx="990600" cy="191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11F1D">
                    <a:alpha val="52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判定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71600" y="5256014"/>
            <a:ext cx="647700" cy="39241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dirty="0">
                <a:solidFill>
                  <a:srgbClr val="201E1E">
                    <a:alpha val="40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01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2209800" y="5233889"/>
            <a:ext cx="2514600" cy="436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98"/>
              </a:lnSpc>
              <a:buNone/>
            </a:pPr>
            <a:r>
              <a:rPr lang="en-US" sz="2025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空腹血糖</a:t>
            </a:r>
            <a:endParaRPr lang="en-US" sz="2025" dirty="0"/>
          </a:p>
        </p:txBody>
      </p:sp>
      <p:sp>
        <p:nvSpPr>
          <p:cNvPr id="25" name="Text 23"/>
          <p:cNvSpPr/>
          <p:nvPr/>
        </p:nvSpPr>
        <p:spPr>
          <a:xfrm>
            <a:off x="4686300" y="5233889"/>
            <a:ext cx="1123950" cy="43666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lnSpc>
                <a:spcPct val="112098"/>
              </a:lnSpc>
              <a:buNone/>
            </a:pPr>
            <a:r>
              <a:rPr lang="en-US" sz="2025" dirty="0">
                <a:solidFill>
                  <a:srgbClr val="00678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9.1</a:t>
            </a:r>
            <a:endParaRPr lang="en-US" sz="2025" dirty="0"/>
          </a:p>
        </p:txBody>
      </p:sp>
      <p:sp>
        <p:nvSpPr>
          <p:cNvPr id="26" name="Text 24"/>
          <p:cNvSpPr/>
          <p:nvPr/>
        </p:nvSpPr>
        <p:spPr>
          <a:xfrm>
            <a:off x="6076950" y="5233889"/>
            <a:ext cx="1219200" cy="43666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2098"/>
              </a:lnSpc>
              <a:buNone/>
            </a:pPr>
            <a:r>
              <a:rPr lang="en-US" sz="2025" dirty="0">
                <a:solidFill>
                  <a:srgbClr val="211D1D">
                    <a:alpha val="58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mmol/L</a:t>
            </a:r>
            <a:endParaRPr lang="en-US" sz="2025" dirty="0"/>
          </a:p>
        </p:txBody>
      </p:sp>
      <p:sp>
        <p:nvSpPr>
          <p:cNvPr id="27" name="Text 25"/>
          <p:cNvSpPr/>
          <p:nvPr/>
        </p:nvSpPr>
        <p:spPr>
          <a:xfrm>
            <a:off x="7486650" y="5233889"/>
            <a:ext cx="1990725" cy="43666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2098"/>
              </a:lnSpc>
              <a:buNone/>
            </a:pPr>
            <a:r>
              <a:rPr lang="en-US" sz="2025" dirty="0">
                <a:solidFill>
                  <a:srgbClr val="211D1D">
                    <a:alpha val="58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3.9 — 6.1</a:t>
            </a:r>
            <a:endParaRPr lang="en-US" sz="2025" dirty="0"/>
          </a:p>
        </p:txBody>
      </p:sp>
      <p:sp>
        <p:nvSpPr>
          <p:cNvPr id="28" name="Shape 26"/>
          <p:cNvSpPr/>
          <p:nvPr/>
        </p:nvSpPr>
        <p:spPr>
          <a:xfrm>
            <a:off x="9563100" y="5366544"/>
            <a:ext cx="6172200" cy="133350"/>
          </a:xfrm>
          <a:prstGeom prst="rect">
            <a:avLst/>
          </a:prstGeom>
          <a:solidFill>
            <a:srgbClr val="EAE7E7"/>
          </a:solidFill>
          <a:ln/>
        </p:spPr>
      </p:sp>
      <p:sp>
        <p:nvSpPr>
          <p:cNvPr id="29" name="Shape 27"/>
          <p:cNvSpPr/>
          <p:nvPr/>
        </p:nvSpPr>
        <p:spPr>
          <a:xfrm>
            <a:off x="11569005" y="5366544"/>
            <a:ext cx="1129506" cy="133350"/>
          </a:xfrm>
          <a:prstGeom prst="rect">
            <a:avLst/>
          </a:prstGeom>
          <a:solidFill>
            <a:srgbClr val="BAB6B6"/>
          </a:solidFill>
          <a:ln/>
        </p:spPr>
      </p:sp>
      <p:sp>
        <p:nvSpPr>
          <p:cNvPr id="30" name="Shape 28"/>
          <p:cNvSpPr/>
          <p:nvPr/>
        </p:nvSpPr>
        <p:spPr>
          <a:xfrm>
            <a:off x="14241562" y="5290344"/>
            <a:ext cx="28575" cy="285750"/>
          </a:xfrm>
          <a:prstGeom prst="rect">
            <a:avLst/>
          </a:prstGeom>
          <a:solidFill>
            <a:srgbClr val="0088B0"/>
          </a:solidFill>
          <a:ln/>
        </p:spPr>
      </p:sp>
      <p:sp>
        <p:nvSpPr>
          <p:cNvPr id="31" name="Text 29"/>
          <p:cNvSpPr/>
          <p:nvPr/>
        </p:nvSpPr>
        <p:spPr>
          <a:xfrm>
            <a:off x="15925800" y="5233889"/>
            <a:ext cx="990600" cy="43666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lnSpc>
                <a:spcPct val="112098"/>
              </a:lnSpc>
              <a:buNone/>
            </a:pPr>
            <a:r>
              <a:rPr lang="en-US" sz="2025" spc="81" kern="0" dirty="0">
                <a:solidFill>
                  <a:srgbClr val="00678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偏高</a:t>
            </a:r>
            <a:endParaRPr lang="en-US" sz="2025" dirty="0"/>
          </a:p>
        </p:txBody>
      </p:sp>
      <p:sp>
        <p:nvSpPr>
          <p:cNvPr id="32" name="Text 30"/>
          <p:cNvSpPr/>
          <p:nvPr/>
        </p:nvSpPr>
        <p:spPr>
          <a:xfrm>
            <a:off x="1371600" y="5770364"/>
            <a:ext cx="647700" cy="39241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dirty="0">
                <a:solidFill>
                  <a:srgbClr val="201E1E">
                    <a:alpha val="40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02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2209800" y="5748239"/>
            <a:ext cx="2514600" cy="436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98"/>
              </a:lnSpc>
              <a:buNone/>
            </a:pPr>
            <a:r>
              <a:rPr lang="en-US" sz="2025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尿素氮</a:t>
            </a:r>
            <a:endParaRPr lang="en-US" sz="2025" dirty="0"/>
          </a:p>
        </p:txBody>
      </p:sp>
      <p:sp>
        <p:nvSpPr>
          <p:cNvPr id="34" name="Text 32"/>
          <p:cNvSpPr/>
          <p:nvPr/>
        </p:nvSpPr>
        <p:spPr>
          <a:xfrm>
            <a:off x="4686300" y="5748239"/>
            <a:ext cx="1123950" cy="43666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lnSpc>
                <a:spcPct val="112098"/>
              </a:lnSpc>
              <a:buNone/>
            </a:pPr>
            <a:r>
              <a:rPr lang="en-US" sz="2025" dirty="0">
                <a:solidFill>
                  <a:srgbClr val="00678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9.6</a:t>
            </a:r>
            <a:endParaRPr lang="en-US" sz="2025" dirty="0"/>
          </a:p>
        </p:txBody>
      </p:sp>
      <p:sp>
        <p:nvSpPr>
          <p:cNvPr id="35" name="Text 33"/>
          <p:cNvSpPr/>
          <p:nvPr/>
        </p:nvSpPr>
        <p:spPr>
          <a:xfrm>
            <a:off x="6076950" y="5748239"/>
            <a:ext cx="1219200" cy="43666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2098"/>
              </a:lnSpc>
              <a:buNone/>
            </a:pPr>
            <a:r>
              <a:rPr lang="en-US" sz="2025" dirty="0">
                <a:solidFill>
                  <a:srgbClr val="211D1D">
                    <a:alpha val="58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mmol/L</a:t>
            </a:r>
            <a:endParaRPr lang="en-US" sz="2025" dirty="0"/>
          </a:p>
        </p:txBody>
      </p:sp>
      <p:sp>
        <p:nvSpPr>
          <p:cNvPr id="36" name="Text 34"/>
          <p:cNvSpPr/>
          <p:nvPr/>
        </p:nvSpPr>
        <p:spPr>
          <a:xfrm>
            <a:off x="7486650" y="5748239"/>
            <a:ext cx="1990725" cy="43666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2098"/>
              </a:lnSpc>
              <a:buNone/>
            </a:pPr>
            <a:r>
              <a:rPr lang="en-US" sz="2025" dirty="0">
                <a:solidFill>
                  <a:srgbClr val="211D1D">
                    <a:alpha val="58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2.9 — 8.2</a:t>
            </a:r>
            <a:endParaRPr lang="en-US" sz="2025" dirty="0"/>
          </a:p>
        </p:txBody>
      </p:sp>
      <p:sp>
        <p:nvSpPr>
          <p:cNvPr id="37" name="Shape 35"/>
          <p:cNvSpPr/>
          <p:nvPr/>
        </p:nvSpPr>
        <p:spPr>
          <a:xfrm>
            <a:off x="9563100" y="5880894"/>
            <a:ext cx="6172200" cy="133350"/>
          </a:xfrm>
          <a:prstGeom prst="rect">
            <a:avLst/>
          </a:prstGeom>
          <a:solidFill>
            <a:srgbClr val="EAE7E7"/>
          </a:solidFill>
          <a:ln/>
        </p:spPr>
      </p:sp>
      <p:sp>
        <p:nvSpPr>
          <p:cNvPr id="38" name="Shape 36"/>
          <p:cNvSpPr/>
          <p:nvPr/>
        </p:nvSpPr>
        <p:spPr>
          <a:xfrm>
            <a:off x="11056739" y="5880894"/>
            <a:ext cx="2721868" cy="133350"/>
          </a:xfrm>
          <a:prstGeom prst="rect">
            <a:avLst/>
          </a:prstGeom>
          <a:solidFill>
            <a:srgbClr val="BAB6B6"/>
          </a:solidFill>
          <a:ln/>
        </p:spPr>
      </p:sp>
      <p:sp>
        <p:nvSpPr>
          <p:cNvPr id="39" name="Shape 37"/>
          <p:cNvSpPr/>
          <p:nvPr/>
        </p:nvSpPr>
        <p:spPr>
          <a:xfrm>
            <a:off x="14500821" y="5804694"/>
            <a:ext cx="28575" cy="285750"/>
          </a:xfrm>
          <a:prstGeom prst="rect">
            <a:avLst/>
          </a:prstGeom>
          <a:solidFill>
            <a:srgbClr val="0088B0"/>
          </a:solidFill>
          <a:ln/>
        </p:spPr>
      </p:sp>
      <p:sp>
        <p:nvSpPr>
          <p:cNvPr id="40" name="Text 38"/>
          <p:cNvSpPr/>
          <p:nvPr/>
        </p:nvSpPr>
        <p:spPr>
          <a:xfrm>
            <a:off x="15925800" y="5748239"/>
            <a:ext cx="990600" cy="43666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lnSpc>
                <a:spcPct val="112098"/>
              </a:lnSpc>
              <a:buNone/>
            </a:pPr>
            <a:r>
              <a:rPr lang="en-US" sz="2025" spc="81" kern="0" dirty="0">
                <a:solidFill>
                  <a:srgbClr val="00678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偏高</a:t>
            </a:r>
            <a:endParaRPr lang="en-US" sz="2025" dirty="0"/>
          </a:p>
        </p:txBody>
      </p:sp>
      <p:sp>
        <p:nvSpPr>
          <p:cNvPr id="41" name="Text 39"/>
          <p:cNvSpPr/>
          <p:nvPr/>
        </p:nvSpPr>
        <p:spPr>
          <a:xfrm>
            <a:off x="1371600" y="6284714"/>
            <a:ext cx="647700" cy="39241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dirty="0">
                <a:solidFill>
                  <a:srgbClr val="201E1E">
                    <a:alpha val="40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03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2209800" y="6262589"/>
            <a:ext cx="2514600" cy="436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98"/>
              </a:lnSpc>
              <a:buNone/>
            </a:pPr>
            <a:r>
              <a:rPr lang="en-US" sz="2025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谷丙转氨酶</a:t>
            </a:r>
            <a:endParaRPr lang="en-US" sz="2025" dirty="0"/>
          </a:p>
        </p:txBody>
      </p:sp>
      <p:sp>
        <p:nvSpPr>
          <p:cNvPr id="43" name="Text 41"/>
          <p:cNvSpPr/>
          <p:nvPr/>
        </p:nvSpPr>
        <p:spPr>
          <a:xfrm>
            <a:off x="4686300" y="6262589"/>
            <a:ext cx="1123950" cy="43666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lnSpc>
                <a:spcPct val="112098"/>
              </a:lnSpc>
              <a:buNone/>
            </a:pPr>
            <a:r>
              <a:rPr lang="en-US" sz="2025" dirty="0">
                <a:solidFill>
                  <a:srgbClr val="00678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47</a:t>
            </a:r>
            <a:endParaRPr lang="en-US" sz="2025" dirty="0"/>
          </a:p>
        </p:txBody>
      </p:sp>
      <p:sp>
        <p:nvSpPr>
          <p:cNvPr id="44" name="Text 42"/>
          <p:cNvSpPr/>
          <p:nvPr/>
        </p:nvSpPr>
        <p:spPr>
          <a:xfrm>
            <a:off x="6076950" y="6262589"/>
            <a:ext cx="1219200" cy="43666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2098"/>
              </a:lnSpc>
              <a:buNone/>
            </a:pPr>
            <a:r>
              <a:rPr lang="en-US" sz="2025" dirty="0">
                <a:solidFill>
                  <a:srgbClr val="211D1D">
                    <a:alpha val="58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U/L</a:t>
            </a:r>
            <a:endParaRPr lang="en-US" sz="2025" dirty="0"/>
          </a:p>
        </p:txBody>
      </p:sp>
      <p:sp>
        <p:nvSpPr>
          <p:cNvPr id="45" name="Text 43"/>
          <p:cNvSpPr/>
          <p:nvPr/>
        </p:nvSpPr>
        <p:spPr>
          <a:xfrm>
            <a:off x="7486650" y="6262589"/>
            <a:ext cx="1990725" cy="43666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2098"/>
              </a:lnSpc>
              <a:buNone/>
            </a:pPr>
            <a:r>
              <a:rPr lang="en-US" sz="2025" dirty="0">
                <a:solidFill>
                  <a:srgbClr val="211D1D">
                    <a:alpha val="58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 — 40</a:t>
            </a:r>
            <a:endParaRPr lang="en-US" sz="2025" dirty="0"/>
          </a:p>
        </p:txBody>
      </p:sp>
      <p:sp>
        <p:nvSpPr>
          <p:cNvPr id="46" name="Shape 44"/>
          <p:cNvSpPr/>
          <p:nvPr/>
        </p:nvSpPr>
        <p:spPr>
          <a:xfrm>
            <a:off x="9563100" y="6395244"/>
            <a:ext cx="6172200" cy="133350"/>
          </a:xfrm>
          <a:prstGeom prst="rect">
            <a:avLst/>
          </a:prstGeom>
          <a:solidFill>
            <a:srgbClr val="EAE7E7"/>
          </a:solidFill>
          <a:ln/>
        </p:spPr>
      </p:sp>
      <p:sp>
        <p:nvSpPr>
          <p:cNvPr id="47" name="Shape 45"/>
          <p:cNvSpPr/>
          <p:nvPr/>
        </p:nvSpPr>
        <p:spPr>
          <a:xfrm>
            <a:off x="9563100" y="6395244"/>
            <a:ext cx="4116784" cy="133350"/>
          </a:xfrm>
          <a:prstGeom prst="rect">
            <a:avLst/>
          </a:prstGeom>
          <a:solidFill>
            <a:srgbClr val="BAB6B6"/>
          </a:solidFill>
          <a:ln/>
        </p:spPr>
      </p:sp>
      <p:sp>
        <p:nvSpPr>
          <p:cNvPr id="48" name="Shape 46"/>
          <p:cNvSpPr/>
          <p:nvPr/>
        </p:nvSpPr>
        <p:spPr>
          <a:xfrm>
            <a:off x="14395847" y="6319044"/>
            <a:ext cx="28575" cy="285750"/>
          </a:xfrm>
          <a:prstGeom prst="rect">
            <a:avLst/>
          </a:prstGeom>
          <a:solidFill>
            <a:srgbClr val="0088B0"/>
          </a:solidFill>
          <a:ln/>
        </p:spPr>
      </p:sp>
      <p:sp>
        <p:nvSpPr>
          <p:cNvPr id="49" name="Text 47"/>
          <p:cNvSpPr/>
          <p:nvPr/>
        </p:nvSpPr>
        <p:spPr>
          <a:xfrm>
            <a:off x="15925800" y="6262589"/>
            <a:ext cx="990600" cy="43666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lnSpc>
                <a:spcPct val="112098"/>
              </a:lnSpc>
              <a:buNone/>
            </a:pPr>
            <a:r>
              <a:rPr lang="en-US" sz="2025" spc="81" kern="0" dirty="0">
                <a:solidFill>
                  <a:srgbClr val="00678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偏高</a:t>
            </a:r>
            <a:endParaRPr lang="en-US" sz="2025" dirty="0"/>
          </a:p>
        </p:txBody>
      </p:sp>
      <p:sp>
        <p:nvSpPr>
          <p:cNvPr id="50" name="Text 48"/>
          <p:cNvSpPr/>
          <p:nvPr/>
        </p:nvSpPr>
        <p:spPr>
          <a:xfrm>
            <a:off x="1371600" y="6799064"/>
            <a:ext cx="647700" cy="39241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dirty="0">
                <a:solidFill>
                  <a:srgbClr val="201E1E">
                    <a:alpha val="40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04—11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2209800" y="6776939"/>
            <a:ext cx="2514600" cy="436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98"/>
              </a:lnSpc>
              <a:buNone/>
            </a:pPr>
            <a:r>
              <a:rPr lang="en-US" sz="2025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其余 8 项</a:t>
            </a:r>
            <a:endParaRPr lang="en-US" sz="2025" dirty="0"/>
          </a:p>
        </p:txBody>
      </p:sp>
      <p:sp>
        <p:nvSpPr>
          <p:cNvPr id="52" name="Text 50"/>
          <p:cNvSpPr/>
          <p:nvPr/>
        </p:nvSpPr>
        <p:spPr>
          <a:xfrm>
            <a:off x="4686300" y="6776939"/>
            <a:ext cx="1123950" cy="43666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lnSpc>
                <a:spcPct val="112098"/>
              </a:lnSpc>
              <a:buNone/>
            </a:pPr>
            <a:r>
              <a:rPr lang="en-US" sz="2025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—</a:t>
            </a:r>
            <a:endParaRPr lang="en-US" sz="2025" dirty="0"/>
          </a:p>
        </p:txBody>
      </p:sp>
      <p:sp>
        <p:nvSpPr>
          <p:cNvPr id="53" name="Text 51"/>
          <p:cNvSpPr/>
          <p:nvPr/>
        </p:nvSpPr>
        <p:spPr>
          <a:xfrm>
            <a:off x="7486650" y="6776939"/>
            <a:ext cx="1990725" cy="43666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2098"/>
              </a:lnSpc>
              <a:buNone/>
            </a:pPr>
            <a:r>
              <a:rPr lang="en-US" sz="2025" dirty="0">
                <a:solidFill>
                  <a:srgbClr val="211D1D">
                    <a:alpha val="58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各自区间内</a:t>
            </a:r>
            <a:endParaRPr lang="en-US" sz="2025" dirty="0"/>
          </a:p>
        </p:txBody>
      </p:sp>
      <p:sp>
        <p:nvSpPr>
          <p:cNvPr id="54" name="Shape 52"/>
          <p:cNvSpPr/>
          <p:nvPr/>
        </p:nvSpPr>
        <p:spPr>
          <a:xfrm>
            <a:off x="9563100" y="6909594"/>
            <a:ext cx="6172200" cy="133350"/>
          </a:xfrm>
          <a:prstGeom prst="rect">
            <a:avLst/>
          </a:prstGeom>
          <a:solidFill>
            <a:srgbClr val="EAE7E7"/>
          </a:solidFill>
          <a:ln/>
        </p:spPr>
      </p:sp>
      <p:sp>
        <p:nvSpPr>
          <p:cNvPr id="55" name="Shape 53"/>
          <p:cNvSpPr/>
          <p:nvPr/>
        </p:nvSpPr>
        <p:spPr>
          <a:xfrm>
            <a:off x="10674053" y="6909594"/>
            <a:ext cx="3579813" cy="133350"/>
          </a:xfrm>
          <a:prstGeom prst="rect">
            <a:avLst/>
          </a:prstGeom>
          <a:solidFill>
            <a:srgbClr val="BAB6B6"/>
          </a:solidFill>
          <a:ln/>
        </p:spPr>
      </p:sp>
      <p:sp>
        <p:nvSpPr>
          <p:cNvPr id="56" name="Shape 54"/>
          <p:cNvSpPr/>
          <p:nvPr/>
        </p:nvSpPr>
        <p:spPr>
          <a:xfrm>
            <a:off x="11044337" y="6919119"/>
            <a:ext cx="19050" cy="114300"/>
          </a:xfrm>
          <a:prstGeom prst="rect">
            <a:avLst/>
          </a:prstGeom>
          <a:solidFill>
            <a:srgbClr val="1F1F1D">
              <a:alpha val="4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11476434" y="6919119"/>
            <a:ext cx="19050" cy="114300"/>
          </a:xfrm>
          <a:prstGeom prst="rect">
            <a:avLst/>
          </a:prstGeom>
          <a:solidFill>
            <a:srgbClr val="1F1F1D">
              <a:alpha val="4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11908532" y="6919119"/>
            <a:ext cx="19050" cy="114300"/>
          </a:xfrm>
          <a:prstGeom prst="rect">
            <a:avLst/>
          </a:prstGeom>
          <a:solidFill>
            <a:srgbClr val="1F1F1D">
              <a:alpha val="45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2340530" y="6919119"/>
            <a:ext cx="19050" cy="114300"/>
          </a:xfrm>
          <a:prstGeom prst="rect">
            <a:avLst/>
          </a:prstGeom>
          <a:solidFill>
            <a:srgbClr val="1F1F1D">
              <a:alpha val="45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2772629" y="6919119"/>
            <a:ext cx="19050" cy="114300"/>
          </a:xfrm>
          <a:prstGeom prst="rect">
            <a:avLst/>
          </a:prstGeom>
          <a:solidFill>
            <a:srgbClr val="1F1F1D">
              <a:alpha val="45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13204627" y="6919119"/>
            <a:ext cx="19050" cy="114300"/>
          </a:xfrm>
          <a:prstGeom prst="rect">
            <a:avLst/>
          </a:prstGeom>
          <a:solidFill>
            <a:srgbClr val="1F1F1D">
              <a:alpha val="45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3636725" y="6919119"/>
            <a:ext cx="19050" cy="114300"/>
          </a:xfrm>
          <a:prstGeom prst="rect">
            <a:avLst/>
          </a:prstGeom>
          <a:solidFill>
            <a:srgbClr val="1F1F1D">
              <a:alpha val="45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14007009" y="6919119"/>
            <a:ext cx="19050" cy="114300"/>
          </a:xfrm>
          <a:prstGeom prst="rect">
            <a:avLst/>
          </a:prstGeom>
          <a:solidFill>
            <a:srgbClr val="1F1F1D">
              <a:alpha val="45000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15925800" y="6776939"/>
            <a:ext cx="990600" cy="43666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r" indent="0" marL="0">
              <a:lnSpc>
                <a:spcPct val="112098"/>
              </a:lnSpc>
              <a:buNone/>
            </a:pPr>
            <a:r>
              <a:rPr lang="en-US" sz="2025" spc="81" kern="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正常</a:t>
            </a:r>
            <a:endParaRPr lang="en-US" sz="2025" dirty="0"/>
          </a:p>
        </p:txBody>
      </p:sp>
      <p:sp>
        <p:nvSpPr>
          <p:cNvPr id="65" name="Shape 63"/>
          <p:cNvSpPr/>
          <p:nvPr/>
        </p:nvSpPr>
        <p:spPr>
          <a:xfrm>
            <a:off x="1371600" y="7652544"/>
            <a:ext cx="155448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1371600" y="7893844"/>
            <a:ext cx="495300" cy="39241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01</a:t>
            </a:r>
            <a:endParaRPr lang="en-US" sz="1800" dirty="0"/>
          </a:p>
        </p:txBody>
      </p:sp>
      <p:sp>
        <p:nvSpPr>
          <p:cNvPr id="67" name="Text 65"/>
          <p:cNvSpPr/>
          <p:nvPr/>
        </p:nvSpPr>
        <p:spPr>
          <a:xfrm>
            <a:off x="1790700" y="7887494"/>
            <a:ext cx="4434459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15"/>
              </a:lnSpc>
              <a:buNone/>
            </a:pPr>
            <a:r>
              <a:rPr lang="en-US" sz="1875" dirty="0">
                <a:solidFill>
                  <a:srgbClr val="201E1D">
                    <a:alpha val="6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英文名映射 40+ 条：glucose → 空腹血糖、bun → 尿素氮、alt → 谷丙转氨酶。</a:t>
            </a:r>
            <a:endParaRPr lang="en-US" sz="1875" dirty="0"/>
          </a:p>
        </p:txBody>
      </p:sp>
      <p:sp>
        <p:nvSpPr>
          <p:cNvPr id="68" name="Text 66"/>
          <p:cNvSpPr/>
          <p:nvPr/>
        </p:nvSpPr>
        <p:spPr>
          <a:xfrm>
            <a:off x="6781800" y="7893844"/>
            <a:ext cx="495300" cy="39241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02</a:t>
            </a:r>
            <a:endParaRPr lang="en-US" sz="1800" dirty="0"/>
          </a:p>
        </p:txBody>
      </p:sp>
      <p:sp>
        <p:nvSpPr>
          <p:cNvPr id="69" name="Text 67"/>
          <p:cNvSpPr/>
          <p:nvPr/>
        </p:nvSpPr>
        <p:spPr>
          <a:xfrm>
            <a:off x="7200900" y="7887494"/>
            <a:ext cx="4434459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15"/>
              </a:lnSpc>
              <a:buNone/>
            </a:pPr>
            <a:r>
              <a:rPr lang="en-US" sz="1875" dirty="0">
                <a:solidFill>
                  <a:srgbClr val="201E1D">
                    <a:alpha val="6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含 mg/dL → mmol/L 单位换算、行号剥离与单位白名单，脏行单独标注不入库。</a:t>
            </a:r>
            <a:endParaRPr lang="en-US" sz="1875" dirty="0"/>
          </a:p>
        </p:txBody>
      </p:sp>
      <p:sp>
        <p:nvSpPr>
          <p:cNvPr id="70" name="Text 68"/>
          <p:cNvSpPr/>
          <p:nvPr/>
        </p:nvSpPr>
        <p:spPr>
          <a:xfrm>
            <a:off x="12192000" y="7893844"/>
            <a:ext cx="495300" cy="39241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03</a:t>
            </a:r>
            <a:endParaRPr lang="en-US" sz="1800" dirty="0"/>
          </a:p>
        </p:txBody>
      </p:sp>
      <p:sp>
        <p:nvSpPr>
          <p:cNvPr id="71" name="Text 69"/>
          <p:cNvSpPr/>
          <p:nvPr/>
        </p:nvSpPr>
        <p:spPr>
          <a:xfrm>
            <a:off x="12611100" y="7887494"/>
            <a:ext cx="4434459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15"/>
              </a:lnSpc>
              <a:buNone/>
            </a:pPr>
            <a:r>
              <a:rPr lang="en-US" sz="1875" dirty="0">
                <a:solidFill>
                  <a:srgbClr val="201E1D">
                    <a:alpha val="6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写入档案做幂等比对，上传导入与详情页导入两条路径不会写重。</a:t>
            </a:r>
            <a:endParaRPr lang="en-US" sz="1875" dirty="0"/>
          </a:p>
        </p:txBody>
      </p:sp>
      <p:sp>
        <p:nvSpPr>
          <p:cNvPr id="72" name="Shape 70"/>
          <p:cNvSpPr/>
          <p:nvPr/>
        </p:nvSpPr>
        <p:spPr>
          <a:xfrm>
            <a:off x="1371600" y="9079706"/>
            <a:ext cx="155448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73" name="Text 71"/>
          <p:cNvSpPr/>
          <p:nvPr/>
        </p:nvSpPr>
        <p:spPr>
          <a:xfrm>
            <a:off x="1371600" y="9219406"/>
            <a:ext cx="3371681" cy="191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01E1E">
                    <a:alpha val="44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康识问诊 · 技术汇报 · REV.4</a:t>
            </a:r>
            <a:endParaRPr lang="en-US" sz="1800" dirty="0"/>
          </a:p>
        </p:txBody>
      </p:sp>
      <p:sp>
        <p:nvSpPr>
          <p:cNvPr id="74" name="Text 72"/>
          <p:cNvSpPr/>
          <p:nvPr/>
        </p:nvSpPr>
        <p:spPr>
          <a:xfrm>
            <a:off x="16150333" y="9219406"/>
            <a:ext cx="842268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01E1E">
                    <a:alpha val="44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16 / 24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343819"/>
            <a:ext cx="155448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914400"/>
            <a:ext cx="15544800" cy="19050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066800"/>
            <a:ext cx="2714109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03 </a:t>
            </a:r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11F1D">
                    <a:alpha val="52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AI 能力与检索链路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977865" y="1066800"/>
            <a:ext cx="2132390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11F1D">
                    <a:alpha val="52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急诊关键词安全网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33400" y="4465638"/>
            <a:ext cx="345579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1F1F1F">
                    <a:alpha val="2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33400" y="4866481"/>
            <a:ext cx="345579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1F1F1F">
                    <a:alpha val="2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33400" y="5267325"/>
            <a:ext cx="345579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03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33400" y="5668169"/>
            <a:ext cx="345579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1F1F1F">
                    <a:alpha val="2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04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92783" y="2121694"/>
            <a:ext cx="4242296" cy="2253555"/>
          </a:xfrm>
          <a:prstGeom prst="rect">
            <a:avLst/>
          </a:prstGeom>
          <a:solidFill>
            <a:srgbClr val="F3F2F2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783" y="2121694"/>
            <a:ext cx="4242296" cy="225355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71600" y="5146774"/>
            <a:ext cx="7826322" cy="158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0" marL="0">
              <a:lnSpc>
                <a:spcPct val="135000"/>
              </a:lnSpc>
              <a:buNone/>
            </a:pPr>
            <a:r>
              <a:rPr lang="en-US" sz="2175" dirty="0">
                <a:solidFill>
                  <a:srgbClr val="211D1D">
                    <a:alpha val="55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模型开口之前，先用确定性规则拦一遍急症关键词 —— 问「胸口剧痛」，急诊提示会先于模型的第一个字弹出。在医学场景里，这种「宁可多说一句」的兜底比多两个功能更重要。</a:t>
            </a:r>
            <a:endParaRPr lang="en-US" sz="2175" dirty="0"/>
          </a:p>
        </p:txBody>
      </p:sp>
      <p:sp>
        <p:nvSpPr>
          <p:cNvPr id="13" name="Shape 10"/>
          <p:cNvSpPr/>
          <p:nvPr/>
        </p:nvSpPr>
        <p:spPr>
          <a:xfrm>
            <a:off x="1371600" y="7108924"/>
            <a:ext cx="155448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1371600" y="7350225"/>
            <a:ext cx="495300" cy="39241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01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790700" y="7343874"/>
            <a:ext cx="4434459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15"/>
              </a:lnSpc>
              <a:buNone/>
            </a:pPr>
            <a:r>
              <a:rPr lang="en-US" sz="1875" dirty="0">
                <a:solidFill>
                  <a:srgbClr val="201E1D">
                    <a:alpha val="6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规则由 EmergencyRules 集中维护，问答与科室导诊共用同一份判据。</a:t>
            </a:r>
            <a:endParaRPr lang="en-US" sz="1875" dirty="0"/>
          </a:p>
        </p:txBody>
      </p:sp>
      <p:sp>
        <p:nvSpPr>
          <p:cNvPr id="16" name="Text 13"/>
          <p:cNvSpPr/>
          <p:nvPr/>
        </p:nvSpPr>
        <p:spPr>
          <a:xfrm>
            <a:off x="6781800" y="7350225"/>
            <a:ext cx="495300" cy="39241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02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7200900" y="7343874"/>
            <a:ext cx="4434459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15"/>
              </a:lnSpc>
              <a:buNone/>
            </a:pPr>
            <a:r>
              <a:rPr lang="en-US" sz="1875" dirty="0">
                <a:solidFill>
                  <a:srgbClr val="201E1D">
                    <a:alpha val="6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导诊命中急症关键词即直达急诊科，不再进入向量检索定科流程。</a:t>
            </a:r>
            <a:endParaRPr lang="en-US" sz="1875" dirty="0"/>
          </a:p>
        </p:txBody>
      </p:sp>
      <p:sp>
        <p:nvSpPr>
          <p:cNvPr id="18" name="Text 15"/>
          <p:cNvSpPr/>
          <p:nvPr/>
        </p:nvSpPr>
        <p:spPr>
          <a:xfrm>
            <a:off x="12192000" y="7350225"/>
            <a:ext cx="495300" cy="39241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2611100" y="7343874"/>
            <a:ext cx="4434459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15"/>
              </a:lnSpc>
              <a:buNone/>
            </a:pPr>
            <a:r>
              <a:rPr lang="en-US" sz="1875" dirty="0">
                <a:solidFill>
                  <a:srgbClr val="201E1D">
                    <a:alpha val="6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提示先于流式首字下发，不依赖模型是否可用 —— 大模型缺省时同样生效。</a:t>
            </a:r>
            <a:endParaRPr lang="en-US" sz="1875" dirty="0"/>
          </a:p>
        </p:txBody>
      </p:sp>
      <p:sp>
        <p:nvSpPr>
          <p:cNvPr id="20" name="Shape 17"/>
          <p:cNvSpPr/>
          <p:nvPr/>
        </p:nvSpPr>
        <p:spPr>
          <a:xfrm>
            <a:off x="1371600" y="9079706"/>
            <a:ext cx="155448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1371600" y="9219406"/>
            <a:ext cx="3371681" cy="191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01E1E">
                    <a:alpha val="44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康识问诊 · 技术汇报 · REV.4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6150333" y="9219406"/>
            <a:ext cx="842268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01E1E">
                    <a:alpha val="44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17 / 24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54000" y="0"/>
            <a:ext cx="5334000" cy="10287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3375" y="190500"/>
            <a:ext cx="1143000" cy="1524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0" y="9944100"/>
            <a:ext cx="1428750" cy="15240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5895975" y="9906000"/>
            <a:ext cx="228600" cy="228600"/>
          </a:xfrm>
          <a:prstGeom prst="ellipse">
            <a:avLst/>
          </a:prstGeom>
          <a:solidFill>
            <a:srgbClr val="201E1D">
              <a:alpha val="80000"/>
            </a:srgbClr>
          </a:solidFill>
          <a:ln/>
        </p:spPr>
      </p:sp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5975" y="9906000"/>
            <a:ext cx="228600" cy="228600"/>
          </a:xfrm>
          <a:prstGeom prst="ellipse">
            <a:avLst/>
          </a:prstGeom>
        </p:spPr>
      </p:pic>
      <p:sp>
        <p:nvSpPr>
          <p:cNvPr id="7" name="Shape 1"/>
          <p:cNvSpPr/>
          <p:nvPr/>
        </p:nvSpPr>
        <p:spPr>
          <a:xfrm>
            <a:off x="1371600" y="1343819"/>
            <a:ext cx="155448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8" name="Shape 2"/>
          <p:cNvSpPr/>
          <p:nvPr/>
        </p:nvSpPr>
        <p:spPr>
          <a:xfrm>
            <a:off x="1371600" y="914400"/>
            <a:ext cx="15544800" cy="19050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9" name="Text 3"/>
          <p:cNvSpPr/>
          <p:nvPr/>
        </p:nvSpPr>
        <p:spPr>
          <a:xfrm>
            <a:off x="1371600" y="1066800"/>
            <a:ext cx="1045468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11F1D">
                    <a:alpha val="52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第四部分</a:t>
            </a:r>
            <a:endParaRPr lang="en-US" sz="1800" dirty="0"/>
          </a:p>
        </p:txBody>
      </p:sp>
      <p:sp>
        <p:nvSpPr>
          <p:cNvPr id="10" name="Text 4"/>
          <p:cNvSpPr/>
          <p:nvPr/>
        </p:nvSpPr>
        <p:spPr>
          <a:xfrm>
            <a:off x="16150333" y="1066800"/>
            <a:ext cx="842268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11F1D">
                    <a:alpha val="52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04 / 04</a:t>
            </a:r>
            <a:endParaRPr lang="en-US" sz="1800" dirty="0"/>
          </a:p>
        </p:txBody>
      </p:sp>
      <p:sp>
        <p:nvSpPr>
          <p:cNvPr id="11" name="Text 5"/>
          <p:cNvSpPr/>
          <p:nvPr/>
        </p:nvSpPr>
        <p:spPr>
          <a:xfrm>
            <a:off x="1350963" y="2378869"/>
            <a:ext cx="17121982" cy="4337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69"/>
              </a:lnSpc>
              <a:buNone/>
            </a:pPr>
            <a:r>
              <a:rPr lang="en-US" sz="4650" b="1" spc="-70" kern="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架构亮点与工程质量</a:t>
            </a:r>
            <a:endParaRPr lang="en-US" sz="4650" dirty="0"/>
          </a:p>
        </p:txBody>
      </p:sp>
      <p:sp>
        <p:nvSpPr>
          <p:cNvPr id="12" name="Shape 6"/>
          <p:cNvSpPr/>
          <p:nvPr/>
        </p:nvSpPr>
        <p:spPr>
          <a:xfrm>
            <a:off x="1371600" y="3546078"/>
            <a:ext cx="85725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13" name="Text 7"/>
          <p:cNvSpPr/>
          <p:nvPr/>
        </p:nvSpPr>
        <p:spPr>
          <a:xfrm>
            <a:off x="1371600" y="3736677"/>
            <a:ext cx="318095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19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1918295" y="3704828"/>
            <a:ext cx="1823085" cy="223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375"/>
              </a:lnSpc>
              <a:buNone/>
            </a:pPr>
            <a:r>
              <a:rPr lang="en-US" sz="2175" dirty="0">
                <a:solidFill>
                  <a:srgbClr val="201F1D">
                    <a:alpha val="62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四层降级矩阵</a:t>
            </a:r>
            <a:endParaRPr lang="en-US" sz="2175" dirty="0"/>
          </a:p>
        </p:txBody>
      </p:sp>
      <p:sp>
        <p:nvSpPr>
          <p:cNvPr id="15" name="Text 9"/>
          <p:cNvSpPr/>
          <p:nvPr/>
        </p:nvSpPr>
        <p:spPr>
          <a:xfrm>
            <a:off x="9540379" y="3736677"/>
            <a:ext cx="479921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dirty="0">
                <a:solidFill>
                  <a:srgbClr val="201E1E">
                    <a:alpha val="40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表 4</a:t>
            </a:r>
            <a:endParaRPr lang="en-US" sz="1800" dirty="0"/>
          </a:p>
        </p:txBody>
      </p:sp>
      <p:sp>
        <p:nvSpPr>
          <p:cNvPr id="16" name="Shape 10"/>
          <p:cNvSpPr/>
          <p:nvPr/>
        </p:nvSpPr>
        <p:spPr>
          <a:xfrm>
            <a:off x="1371600" y="4042271"/>
            <a:ext cx="85725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17" name="Text 11"/>
          <p:cNvSpPr/>
          <p:nvPr/>
        </p:nvSpPr>
        <p:spPr>
          <a:xfrm>
            <a:off x="1371600" y="4232870"/>
            <a:ext cx="318095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20</a:t>
            </a:r>
            <a:endParaRPr lang="en-US" sz="1800" dirty="0"/>
          </a:p>
        </p:txBody>
      </p:sp>
      <p:sp>
        <p:nvSpPr>
          <p:cNvPr id="18" name="Text 12"/>
          <p:cNvSpPr/>
          <p:nvPr/>
        </p:nvSpPr>
        <p:spPr>
          <a:xfrm>
            <a:off x="1918295" y="4201021"/>
            <a:ext cx="2734628" cy="223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375"/>
              </a:lnSpc>
              <a:buNone/>
            </a:pPr>
            <a:r>
              <a:rPr lang="en-US" sz="2175" dirty="0">
                <a:solidFill>
                  <a:srgbClr val="201F1D">
                    <a:alpha val="62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双写路由与补账队列</a:t>
            </a:r>
            <a:endParaRPr lang="en-US" sz="2175" dirty="0"/>
          </a:p>
        </p:txBody>
      </p:sp>
      <p:sp>
        <p:nvSpPr>
          <p:cNvPr id="19" name="Text 13"/>
          <p:cNvSpPr/>
          <p:nvPr/>
        </p:nvSpPr>
        <p:spPr>
          <a:xfrm>
            <a:off x="9540379" y="4232870"/>
            <a:ext cx="479921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dirty="0">
                <a:solidFill>
                  <a:srgbClr val="201E1E">
                    <a:alpha val="40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图 6</a:t>
            </a:r>
            <a:endParaRPr lang="en-US" sz="1800" dirty="0"/>
          </a:p>
        </p:txBody>
      </p:sp>
      <p:sp>
        <p:nvSpPr>
          <p:cNvPr id="20" name="Shape 14"/>
          <p:cNvSpPr/>
          <p:nvPr/>
        </p:nvSpPr>
        <p:spPr>
          <a:xfrm>
            <a:off x="1371600" y="4538464"/>
            <a:ext cx="85725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21" name="Text 15"/>
          <p:cNvSpPr/>
          <p:nvPr/>
        </p:nvSpPr>
        <p:spPr>
          <a:xfrm>
            <a:off x="1371600" y="4729063"/>
            <a:ext cx="318095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21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1918295" y="4697214"/>
            <a:ext cx="2126933" cy="223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375"/>
              </a:lnSpc>
              <a:buNone/>
            </a:pPr>
            <a:r>
              <a:rPr lang="en-US" sz="2175" dirty="0">
                <a:solidFill>
                  <a:srgbClr val="201F1D">
                    <a:alpha val="62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向量库接入前后</a:t>
            </a:r>
            <a:endParaRPr lang="en-US" sz="2175" dirty="0"/>
          </a:p>
        </p:txBody>
      </p:sp>
      <p:sp>
        <p:nvSpPr>
          <p:cNvPr id="23" name="Text 17"/>
          <p:cNvSpPr/>
          <p:nvPr/>
        </p:nvSpPr>
        <p:spPr>
          <a:xfrm>
            <a:off x="9540379" y="4729063"/>
            <a:ext cx="479921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dirty="0">
                <a:solidFill>
                  <a:srgbClr val="201E1E">
                    <a:alpha val="40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表 5</a:t>
            </a:r>
            <a:endParaRPr lang="en-US" sz="1800" dirty="0"/>
          </a:p>
        </p:txBody>
      </p:sp>
      <p:sp>
        <p:nvSpPr>
          <p:cNvPr id="24" name="Shape 18"/>
          <p:cNvSpPr/>
          <p:nvPr/>
        </p:nvSpPr>
        <p:spPr>
          <a:xfrm>
            <a:off x="1371600" y="5034657"/>
            <a:ext cx="85725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25" name="Text 19"/>
          <p:cNvSpPr/>
          <p:nvPr/>
        </p:nvSpPr>
        <p:spPr>
          <a:xfrm>
            <a:off x="1371600" y="5225257"/>
            <a:ext cx="318095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22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1918295" y="5193407"/>
            <a:ext cx="1181100" cy="223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375"/>
              </a:lnSpc>
              <a:buNone/>
            </a:pPr>
            <a:r>
              <a:rPr lang="en-US" sz="2175" dirty="0">
                <a:solidFill>
                  <a:srgbClr val="201F1D">
                    <a:alpha val="62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源码构成</a:t>
            </a:r>
            <a:endParaRPr lang="en-US" sz="2175" dirty="0"/>
          </a:p>
        </p:txBody>
      </p:sp>
      <p:sp>
        <p:nvSpPr>
          <p:cNvPr id="27" name="Text 21"/>
          <p:cNvSpPr/>
          <p:nvPr/>
        </p:nvSpPr>
        <p:spPr>
          <a:xfrm>
            <a:off x="9540379" y="5225257"/>
            <a:ext cx="479921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dirty="0">
                <a:solidFill>
                  <a:srgbClr val="201E1E">
                    <a:alpha val="40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图 7</a:t>
            </a:r>
            <a:endParaRPr lang="en-US" sz="1800" dirty="0"/>
          </a:p>
        </p:txBody>
      </p:sp>
      <p:sp>
        <p:nvSpPr>
          <p:cNvPr id="28" name="Shape 22"/>
          <p:cNvSpPr/>
          <p:nvPr/>
        </p:nvSpPr>
        <p:spPr>
          <a:xfrm>
            <a:off x="1371600" y="5530850"/>
            <a:ext cx="85725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29" name="Text 23"/>
          <p:cNvSpPr/>
          <p:nvPr/>
        </p:nvSpPr>
        <p:spPr>
          <a:xfrm>
            <a:off x="1371600" y="5721450"/>
            <a:ext cx="318095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23</a:t>
            </a:r>
            <a:endParaRPr lang="en-US" sz="1800" dirty="0"/>
          </a:p>
        </p:txBody>
      </p:sp>
      <p:sp>
        <p:nvSpPr>
          <p:cNvPr id="30" name="Text 24"/>
          <p:cNvSpPr/>
          <p:nvPr/>
        </p:nvSpPr>
        <p:spPr>
          <a:xfrm>
            <a:off x="1918295" y="5689600"/>
            <a:ext cx="2734628" cy="223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375"/>
              </a:lnSpc>
              <a:buNone/>
            </a:pPr>
            <a:r>
              <a:rPr lang="en-US" sz="2175" dirty="0">
                <a:solidFill>
                  <a:srgbClr val="201F1D">
                    <a:alpha val="62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工程质量与测试演进</a:t>
            </a:r>
            <a:endParaRPr lang="en-US" sz="2175" dirty="0"/>
          </a:p>
        </p:txBody>
      </p:sp>
      <p:sp>
        <p:nvSpPr>
          <p:cNvPr id="31" name="Text 25"/>
          <p:cNvSpPr/>
          <p:nvPr/>
        </p:nvSpPr>
        <p:spPr>
          <a:xfrm>
            <a:off x="9540379" y="5721450"/>
            <a:ext cx="479921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dirty="0">
                <a:solidFill>
                  <a:srgbClr val="201E1E">
                    <a:alpha val="40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图 8</a:t>
            </a:r>
            <a:endParaRPr lang="en-US" sz="1800" dirty="0"/>
          </a:p>
        </p:txBody>
      </p:sp>
      <p:sp>
        <p:nvSpPr>
          <p:cNvPr id="32" name="Shape 26"/>
          <p:cNvSpPr/>
          <p:nvPr/>
        </p:nvSpPr>
        <p:spPr>
          <a:xfrm>
            <a:off x="799505" y="6459935"/>
            <a:ext cx="2757686" cy="1906786"/>
          </a:xfrm>
          <a:prstGeom prst="rect">
            <a:avLst/>
          </a:prstGeom>
          <a:solidFill>
            <a:srgbClr val="F3F2F2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505" y="6459935"/>
            <a:ext cx="2757686" cy="1906786"/>
          </a:xfrm>
          <a:prstGeom prst="rect">
            <a:avLst/>
          </a:prstGeom>
        </p:spPr>
      </p:pic>
      <p:sp>
        <p:nvSpPr>
          <p:cNvPr id="34" name="Shape 27"/>
          <p:cNvSpPr/>
          <p:nvPr/>
        </p:nvSpPr>
        <p:spPr>
          <a:xfrm>
            <a:off x="1371600" y="9079706"/>
            <a:ext cx="155448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35" name="Text 28"/>
          <p:cNvSpPr/>
          <p:nvPr/>
        </p:nvSpPr>
        <p:spPr>
          <a:xfrm>
            <a:off x="1371600" y="9219406"/>
            <a:ext cx="3371681" cy="191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01E1E">
                    <a:alpha val="44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康识问诊 · 技术汇报 · REV.4</a:t>
            </a:r>
            <a:endParaRPr lang="en-US" sz="1800" dirty="0"/>
          </a:p>
        </p:txBody>
      </p:sp>
      <p:sp>
        <p:nvSpPr>
          <p:cNvPr id="36" name="Text 29"/>
          <p:cNvSpPr/>
          <p:nvPr/>
        </p:nvSpPr>
        <p:spPr>
          <a:xfrm>
            <a:off x="16150333" y="9219406"/>
            <a:ext cx="842268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01E1E">
                    <a:alpha val="44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18 / 24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343819"/>
            <a:ext cx="155448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914400"/>
            <a:ext cx="15544800" cy="19050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066800"/>
            <a:ext cx="2871272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04 </a:t>
            </a:r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11F1D">
                    <a:alpha val="52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架构亮点与工程质量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5462449" y="1066800"/>
            <a:ext cx="1599347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11F1D">
                    <a:alpha val="52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四层降级矩阵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33400" y="4465638"/>
            <a:ext cx="345579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1F1F1F">
                    <a:alpha val="2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33400" y="4866481"/>
            <a:ext cx="345579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1F1F1F">
                    <a:alpha val="2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33400" y="5267325"/>
            <a:ext cx="345579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1F1F1F">
                    <a:alpha val="2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03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33400" y="5668169"/>
            <a:ext cx="345579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04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50963" y="1769269"/>
            <a:ext cx="17121982" cy="4337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69"/>
              </a:lnSpc>
              <a:buNone/>
            </a:pPr>
            <a:r>
              <a:rPr lang="en-US" sz="4650" b="1" spc="-70" kern="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四层降级矩阵</a:t>
            </a:r>
            <a:endParaRPr lang="en-US" sz="4650" dirty="0"/>
          </a:p>
        </p:txBody>
      </p:sp>
      <p:sp>
        <p:nvSpPr>
          <p:cNvPr id="11" name="Text 9"/>
          <p:cNvSpPr/>
          <p:nvPr/>
        </p:nvSpPr>
        <p:spPr>
          <a:xfrm>
            <a:off x="1371600" y="2584053"/>
            <a:ext cx="521097" cy="39241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表 4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045097" y="2684859"/>
            <a:ext cx="6022052" cy="191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01E1E">
                    <a:alpha val="50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六项依赖的正常路径与降级路径 · 青方块为 AI 依赖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947132" y="2684859"/>
            <a:ext cx="1045468" cy="191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01E1E">
                    <a:alpha val="50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逐条实测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371600" y="3959523"/>
            <a:ext cx="862013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600200" y="3695410"/>
            <a:ext cx="481013" cy="18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b="1" spc="108" kern="0" dirty="0">
                <a:solidFill>
                  <a:srgbClr val="201E1C">
                    <a:alpha val="60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序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233613" y="3959523"/>
            <a:ext cx="2426196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2462213" y="3695410"/>
            <a:ext cx="2045196" cy="18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b="1" spc="108" kern="0" dirty="0">
                <a:solidFill>
                  <a:srgbClr val="201E1C">
                    <a:alpha val="60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层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659809" y="3959523"/>
            <a:ext cx="435868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888409" y="3695410"/>
            <a:ext cx="4032240" cy="18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b="1" spc="108" kern="0" dirty="0">
                <a:solidFill>
                  <a:srgbClr val="201E1C">
                    <a:alpha val="60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正常路径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018488" y="3959523"/>
            <a:ext cx="530602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9247088" y="3695410"/>
            <a:ext cx="5008001" cy="18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b="1" spc="108" kern="0" dirty="0">
                <a:solidFill>
                  <a:srgbClr val="201E1C">
                    <a:alpha val="60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降级路径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4324509" y="3959523"/>
            <a:ext cx="2591892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4553109" y="3695410"/>
            <a:ext cx="2212448" cy="18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b="1" spc="108" kern="0" dirty="0">
                <a:solidFill>
                  <a:srgbClr val="201E1C">
                    <a:alpha val="60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代价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371600" y="4347071"/>
            <a:ext cx="862013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600200" y="4076791"/>
            <a:ext cx="481013" cy="197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E">
                    <a:alpha val="40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01</a:t>
            </a:r>
            <a:endParaRPr lang="en-US" sz="1875" dirty="0"/>
          </a:p>
        </p:txBody>
      </p:sp>
      <p:sp>
        <p:nvSpPr>
          <p:cNvPr id="26" name="Shape 24"/>
          <p:cNvSpPr/>
          <p:nvPr/>
        </p:nvSpPr>
        <p:spPr>
          <a:xfrm>
            <a:off x="2233613" y="4347071"/>
            <a:ext cx="2426196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2462213" y="4076791"/>
            <a:ext cx="2045196" cy="197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00678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大模型</a:t>
            </a:r>
            <a:endParaRPr lang="en-US" sz="1875" dirty="0"/>
          </a:p>
        </p:txBody>
      </p:sp>
      <p:sp>
        <p:nvSpPr>
          <p:cNvPr id="28" name="Shape 26"/>
          <p:cNvSpPr/>
          <p:nvPr/>
        </p:nvSpPr>
        <p:spPr>
          <a:xfrm>
            <a:off x="4659809" y="4347071"/>
            <a:ext cx="4358680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888409" y="4076791"/>
            <a:ext cx="4032240" cy="197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DeepSeek 多模态 ChatClient</a:t>
            </a:r>
            <a:endParaRPr lang="en-US" sz="1875" dirty="0"/>
          </a:p>
        </p:txBody>
      </p:sp>
      <p:sp>
        <p:nvSpPr>
          <p:cNvPr id="30" name="Shape 28"/>
          <p:cNvSpPr/>
          <p:nvPr/>
        </p:nvSpPr>
        <p:spPr>
          <a:xfrm>
            <a:off x="9018488" y="4347071"/>
            <a:ext cx="5306020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9247088" y="4076791"/>
            <a:ext cx="5008001" cy="197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模板化检索回答</a:t>
            </a:r>
            <a:endParaRPr lang="en-US" sz="1875" dirty="0"/>
          </a:p>
        </p:txBody>
      </p:sp>
      <p:sp>
        <p:nvSpPr>
          <p:cNvPr id="32" name="Shape 30"/>
          <p:cNvSpPr/>
          <p:nvPr/>
        </p:nvSpPr>
        <p:spPr>
          <a:xfrm>
            <a:off x="14324509" y="4347071"/>
            <a:ext cx="2591892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14553109" y="4076791"/>
            <a:ext cx="2212448" cy="197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非真实推理</a:t>
            </a:r>
            <a:endParaRPr lang="en-US" sz="1875" dirty="0"/>
          </a:p>
        </p:txBody>
      </p:sp>
      <p:sp>
        <p:nvSpPr>
          <p:cNvPr id="34" name="Shape 32"/>
          <p:cNvSpPr/>
          <p:nvPr/>
        </p:nvSpPr>
        <p:spPr>
          <a:xfrm>
            <a:off x="1371600" y="4734620"/>
            <a:ext cx="862013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1600200" y="4464340"/>
            <a:ext cx="481013" cy="197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E">
                    <a:alpha val="40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02</a:t>
            </a:r>
            <a:endParaRPr lang="en-US" sz="1875" dirty="0"/>
          </a:p>
        </p:txBody>
      </p:sp>
      <p:sp>
        <p:nvSpPr>
          <p:cNvPr id="36" name="Shape 34"/>
          <p:cNvSpPr/>
          <p:nvPr/>
        </p:nvSpPr>
        <p:spPr>
          <a:xfrm>
            <a:off x="2233613" y="4734620"/>
            <a:ext cx="2426196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2462213" y="4464340"/>
            <a:ext cx="2045196" cy="197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00678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Embedding</a:t>
            </a:r>
            <a:endParaRPr lang="en-US" sz="1875" dirty="0"/>
          </a:p>
        </p:txBody>
      </p:sp>
      <p:sp>
        <p:nvSpPr>
          <p:cNvPr id="38" name="Shape 36"/>
          <p:cNvSpPr/>
          <p:nvPr/>
        </p:nvSpPr>
        <p:spPr>
          <a:xfrm>
            <a:off x="4659809" y="4734620"/>
            <a:ext cx="4358680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4888409" y="4464340"/>
            <a:ext cx="4032240" cy="197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OpenAI 兼容服务 bge-m3</a:t>
            </a:r>
            <a:endParaRPr lang="en-US" sz="1875" dirty="0"/>
          </a:p>
        </p:txBody>
      </p:sp>
      <p:sp>
        <p:nvSpPr>
          <p:cNvPr id="40" name="Shape 38"/>
          <p:cNvSpPr/>
          <p:nvPr/>
        </p:nvSpPr>
        <p:spPr>
          <a:xfrm>
            <a:off x="9018488" y="4734620"/>
            <a:ext cx="5306020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9247088" y="4464340"/>
            <a:ext cx="5008001" cy="197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中文 n-gram 哈希向量 256 维</a:t>
            </a:r>
            <a:endParaRPr lang="en-US" sz="1875" dirty="0"/>
          </a:p>
        </p:txBody>
      </p:sp>
      <p:sp>
        <p:nvSpPr>
          <p:cNvPr id="42" name="Shape 40"/>
          <p:cNvSpPr/>
          <p:nvPr/>
        </p:nvSpPr>
        <p:spPr>
          <a:xfrm>
            <a:off x="14324509" y="4734620"/>
            <a:ext cx="2591892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14553109" y="4464340"/>
            <a:ext cx="2212448" cy="197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转 lexical-filter</a:t>
            </a:r>
            <a:endParaRPr lang="en-US" sz="1875" dirty="0"/>
          </a:p>
        </p:txBody>
      </p:sp>
      <p:sp>
        <p:nvSpPr>
          <p:cNvPr id="44" name="Shape 42"/>
          <p:cNvSpPr/>
          <p:nvPr/>
        </p:nvSpPr>
        <p:spPr>
          <a:xfrm>
            <a:off x="1371600" y="5122168"/>
            <a:ext cx="862013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1600200" y="4851888"/>
            <a:ext cx="481013" cy="197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E">
                    <a:alpha val="40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03</a:t>
            </a:r>
            <a:endParaRPr lang="en-US" sz="1875" dirty="0"/>
          </a:p>
        </p:txBody>
      </p:sp>
      <p:sp>
        <p:nvSpPr>
          <p:cNvPr id="46" name="Shape 44"/>
          <p:cNvSpPr/>
          <p:nvPr/>
        </p:nvSpPr>
        <p:spPr>
          <a:xfrm>
            <a:off x="2233613" y="5122168"/>
            <a:ext cx="2426196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2462213" y="4851888"/>
            <a:ext cx="2045196" cy="197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00678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向量库</a:t>
            </a:r>
            <a:endParaRPr lang="en-US" sz="1875" dirty="0"/>
          </a:p>
        </p:txBody>
      </p:sp>
      <p:sp>
        <p:nvSpPr>
          <p:cNvPr id="48" name="Shape 46"/>
          <p:cNvSpPr/>
          <p:nvPr/>
        </p:nvSpPr>
        <p:spPr>
          <a:xfrm>
            <a:off x="4659809" y="5122168"/>
            <a:ext cx="4358680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4888409" y="4851888"/>
            <a:ext cx="4032240" cy="197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Milvus 2.4 HNSW 落盘</a:t>
            </a:r>
            <a:endParaRPr lang="en-US" sz="1875" dirty="0"/>
          </a:p>
        </p:txBody>
      </p:sp>
      <p:sp>
        <p:nvSpPr>
          <p:cNvPr id="50" name="Shape 48"/>
          <p:cNvSpPr/>
          <p:nvPr/>
        </p:nvSpPr>
        <p:spPr>
          <a:xfrm>
            <a:off x="9018488" y="5122168"/>
            <a:ext cx="5306020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9247088" y="4851888"/>
            <a:ext cx="5008001" cy="197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进程内余弦检索（内存全量备份）</a:t>
            </a:r>
            <a:endParaRPr lang="en-US" sz="1875" dirty="0"/>
          </a:p>
        </p:txBody>
      </p:sp>
      <p:sp>
        <p:nvSpPr>
          <p:cNvPr id="52" name="Shape 50"/>
          <p:cNvSpPr/>
          <p:nvPr/>
        </p:nvSpPr>
        <p:spPr>
          <a:xfrm>
            <a:off x="14324509" y="5122168"/>
            <a:ext cx="2591892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14553109" y="4851888"/>
            <a:ext cx="2212448" cy="197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重启需重建索引</a:t>
            </a:r>
            <a:endParaRPr lang="en-US" sz="1875" dirty="0"/>
          </a:p>
        </p:txBody>
      </p:sp>
      <p:sp>
        <p:nvSpPr>
          <p:cNvPr id="54" name="Shape 52"/>
          <p:cNvSpPr/>
          <p:nvPr/>
        </p:nvSpPr>
        <p:spPr>
          <a:xfrm>
            <a:off x="1371600" y="5509717"/>
            <a:ext cx="862013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1600200" y="5239437"/>
            <a:ext cx="481013" cy="197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E">
                    <a:alpha val="40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04</a:t>
            </a:r>
            <a:endParaRPr lang="en-US" sz="1875" dirty="0"/>
          </a:p>
        </p:txBody>
      </p:sp>
      <p:sp>
        <p:nvSpPr>
          <p:cNvPr id="56" name="Shape 54"/>
          <p:cNvSpPr/>
          <p:nvPr/>
        </p:nvSpPr>
        <p:spPr>
          <a:xfrm>
            <a:off x="2233613" y="5509717"/>
            <a:ext cx="2426196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2462213" y="5239437"/>
            <a:ext cx="2045196" cy="197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缓存与会话</a:t>
            </a:r>
            <a:endParaRPr lang="en-US" sz="1875" dirty="0"/>
          </a:p>
        </p:txBody>
      </p:sp>
      <p:sp>
        <p:nvSpPr>
          <p:cNvPr id="58" name="Shape 56"/>
          <p:cNvSpPr/>
          <p:nvPr/>
        </p:nvSpPr>
        <p:spPr>
          <a:xfrm>
            <a:off x="4659809" y="5509717"/>
            <a:ext cx="4358680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4888409" y="5239437"/>
            <a:ext cx="4032240" cy="197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Redis 7 缓存与登录态</a:t>
            </a:r>
            <a:endParaRPr lang="en-US" sz="1875" dirty="0"/>
          </a:p>
        </p:txBody>
      </p:sp>
      <p:sp>
        <p:nvSpPr>
          <p:cNvPr id="60" name="Shape 58"/>
          <p:cNvSpPr/>
          <p:nvPr/>
        </p:nvSpPr>
        <p:spPr>
          <a:xfrm>
            <a:off x="9018488" y="5509717"/>
            <a:ext cx="5306020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9247088" y="5239437"/>
            <a:ext cx="5008001" cy="197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进程内 TTL 缓存 + 内存 SaTokenDao</a:t>
            </a:r>
            <a:endParaRPr lang="en-US" sz="1875" dirty="0"/>
          </a:p>
        </p:txBody>
      </p:sp>
      <p:sp>
        <p:nvSpPr>
          <p:cNvPr id="62" name="Shape 60"/>
          <p:cNvSpPr/>
          <p:nvPr/>
        </p:nvSpPr>
        <p:spPr>
          <a:xfrm>
            <a:off x="14324509" y="5509717"/>
            <a:ext cx="2591892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14553109" y="5239437"/>
            <a:ext cx="2212448" cy="197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重启需重新登录</a:t>
            </a:r>
            <a:endParaRPr lang="en-US" sz="1875" dirty="0"/>
          </a:p>
        </p:txBody>
      </p:sp>
      <p:sp>
        <p:nvSpPr>
          <p:cNvPr id="64" name="Shape 62"/>
          <p:cNvSpPr/>
          <p:nvPr/>
        </p:nvSpPr>
        <p:spPr>
          <a:xfrm>
            <a:off x="1371600" y="5897265"/>
            <a:ext cx="862013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1600200" y="5626985"/>
            <a:ext cx="481013" cy="197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E">
                    <a:alpha val="40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05</a:t>
            </a:r>
            <a:endParaRPr lang="en-US" sz="1875" dirty="0"/>
          </a:p>
        </p:txBody>
      </p:sp>
      <p:sp>
        <p:nvSpPr>
          <p:cNvPr id="66" name="Shape 64"/>
          <p:cNvSpPr/>
          <p:nvPr/>
        </p:nvSpPr>
        <p:spPr>
          <a:xfrm>
            <a:off x="2233613" y="5897265"/>
            <a:ext cx="2426196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2462213" y="5626985"/>
            <a:ext cx="2045196" cy="197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知识与新闻</a:t>
            </a:r>
            <a:endParaRPr lang="en-US" sz="1875" dirty="0"/>
          </a:p>
        </p:txBody>
      </p:sp>
      <p:sp>
        <p:nvSpPr>
          <p:cNvPr id="68" name="Shape 66"/>
          <p:cNvSpPr/>
          <p:nvPr/>
        </p:nvSpPr>
        <p:spPr>
          <a:xfrm>
            <a:off x="4659809" y="5897265"/>
            <a:ext cx="4358680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69" name="Text 67"/>
          <p:cNvSpPr/>
          <p:nvPr/>
        </p:nvSpPr>
        <p:spPr>
          <a:xfrm>
            <a:off x="4888409" y="5626985"/>
            <a:ext cx="4032240" cy="197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联网抓取官方正文</a:t>
            </a:r>
            <a:endParaRPr lang="en-US" sz="1875" dirty="0"/>
          </a:p>
        </p:txBody>
      </p:sp>
      <p:sp>
        <p:nvSpPr>
          <p:cNvPr id="70" name="Shape 68"/>
          <p:cNvSpPr/>
          <p:nvPr/>
        </p:nvSpPr>
        <p:spPr>
          <a:xfrm>
            <a:off x="9018488" y="5897265"/>
            <a:ext cx="5306020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71" name="Text 69"/>
          <p:cNvSpPr/>
          <p:nvPr/>
        </p:nvSpPr>
        <p:spPr>
          <a:xfrm>
            <a:off x="9247088" y="5626985"/>
            <a:ext cx="5008001" cy="197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仓库内已核对的官方快照</a:t>
            </a:r>
            <a:endParaRPr lang="en-US" sz="1875" dirty="0"/>
          </a:p>
        </p:txBody>
      </p:sp>
      <p:sp>
        <p:nvSpPr>
          <p:cNvPr id="72" name="Shape 70"/>
          <p:cNvSpPr/>
          <p:nvPr/>
        </p:nvSpPr>
        <p:spPr>
          <a:xfrm>
            <a:off x="14324509" y="5897265"/>
            <a:ext cx="2591892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73" name="Text 71"/>
          <p:cNvSpPr/>
          <p:nvPr/>
        </p:nvSpPr>
        <p:spPr>
          <a:xfrm>
            <a:off x="14553109" y="5626985"/>
            <a:ext cx="2212448" cy="197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不含最新增量</a:t>
            </a:r>
            <a:endParaRPr lang="en-US" sz="1875" dirty="0"/>
          </a:p>
        </p:txBody>
      </p:sp>
      <p:sp>
        <p:nvSpPr>
          <p:cNvPr id="74" name="Shape 72"/>
          <p:cNvSpPr/>
          <p:nvPr/>
        </p:nvSpPr>
        <p:spPr>
          <a:xfrm>
            <a:off x="1371600" y="6284814"/>
            <a:ext cx="862013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75" name="Text 73"/>
          <p:cNvSpPr/>
          <p:nvPr/>
        </p:nvSpPr>
        <p:spPr>
          <a:xfrm>
            <a:off x="1600200" y="6014534"/>
            <a:ext cx="481013" cy="197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E">
                    <a:alpha val="40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06</a:t>
            </a:r>
            <a:endParaRPr lang="en-US" sz="1875" dirty="0"/>
          </a:p>
        </p:txBody>
      </p:sp>
      <p:sp>
        <p:nvSpPr>
          <p:cNvPr id="76" name="Shape 74"/>
          <p:cNvSpPr/>
          <p:nvPr/>
        </p:nvSpPr>
        <p:spPr>
          <a:xfrm>
            <a:off x="2233613" y="6284814"/>
            <a:ext cx="2426196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77" name="Text 75"/>
          <p:cNvSpPr/>
          <p:nvPr/>
        </p:nvSpPr>
        <p:spPr>
          <a:xfrm>
            <a:off x="2462213" y="6014534"/>
            <a:ext cx="2045196" cy="197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周边资源</a:t>
            </a:r>
            <a:endParaRPr lang="en-US" sz="1875" dirty="0"/>
          </a:p>
        </p:txBody>
      </p:sp>
      <p:sp>
        <p:nvSpPr>
          <p:cNvPr id="78" name="Shape 76"/>
          <p:cNvSpPr/>
          <p:nvPr/>
        </p:nvSpPr>
        <p:spPr>
          <a:xfrm>
            <a:off x="4659809" y="6284814"/>
            <a:ext cx="4358680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79" name="Text 77"/>
          <p:cNvSpPr/>
          <p:nvPr/>
        </p:nvSpPr>
        <p:spPr>
          <a:xfrm>
            <a:off x="4888409" y="6014534"/>
            <a:ext cx="4032240" cy="197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高德地图周边真实 POI</a:t>
            </a:r>
            <a:endParaRPr lang="en-US" sz="1875" dirty="0"/>
          </a:p>
        </p:txBody>
      </p:sp>
      <p:sp>
        <p:nvSpPr>
          <p:cNvPr id="80" name="Shape 78"/>
          <p:cNvSpPr/>
          <p:nvPr/>
        </p:nvSpPr>
        <p:spPr>
          <a:xfrm>
            <a:off x="9018488" y="6284814"/>
            <a:ext cx="5306020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81" name="Text 79"/>
          <p:cNvSpPr/>
          <p:nvPr/>
        </p:nvSpPr>
        <p:spPr>
          <a:xfrm>
            <a:off x="9247088" y="6014534"/>
            <a:ext cx="5008001" cy="197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降级为科室就医建议文字</a:t>
            </a:r>
            <a:endParaRPr lang="en-US" sz="1875" dirty="0"/>
          </a:p>
        </p:txBody>
      </p:sp>
      <p:sp>
        <p:nvSpPr>
          <p:cNvPr id="82" name="Shape 80"/>
          <p:cNvSpPr/>
          <p:nvPr/>
        </p:nvSpPr>
        <p:spPr>
          <a:xfrm>
            <a:off x="14324509" y="6284814"/>
            <a:ext cx="2591892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83" name="Text 81"/>
          <p:cNvSpPr/>
          <p:nvPr/>
        </p:nvSpPr>
        <p:spPr>
          <a:xfrm>
            <a:off x="14553109" y="6014534"/>
            <a:ext cx="2212448" cy="197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无机构名与电话</a:t>
            </a:r>
            <a:endParaRPr lang="en-US" sz="1875" dirty="0"/>
          </a:p>
        </p:txBody>
      </p:sp>
      <p:sp>
        <p:nvSpPr>
          <p:cNvPr id="84" name="Shape 82"/>
          <p:cNvSpPr/>
          <p:nvPr/>
        </p:nvSpPr>
        <p:spPr>
          <a:xfrm>
            <a:off x="1371600" y="6713438"/>
            <a:ext cx="155448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85" name="Text 83"/>
          <p:cNvSpPr/>
          <p:nvPr/>
        </p:nvSpPr>
        <p:spPr>
          <a:xfrm>
            <a:off x="1371600" y="6954738"/>
            <a:ext cx="495300" cy="39241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01</a:t>
            </a:r>
            <a:endParaRPr lang="en-US" sz="1800" dirty="0"/>
          </a:p>
        </p:txBody>
      </p:sp>
      <p:sp>
        <p:nvSpPr>
          <p:cNvPr id="86" name="Text 84"/>
          <p:cNvSpPr/>
          <p:nvPr/>
        </p:nvSpPr>
        <p:spPr>
          <a:xfrm>
            <a:off x="1790700" y="6948389"/>
            <a:ext cx="4434459" cy="1123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15"/>
              </a:lnSpc>
              <a:buNone/>
            </a:pPr>
            <a:r>
              <a:rPr lang="en-US" sz="1875" dirty="0">
                <a:solidFill>
                  <a:srgbClr val="201E1D">
                    <a:alpha val="6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只有 MySQL 是默认必需项，完全离线可切 H2 profile —— 断网、无 Docker、无 API Key 均可演示。</a:t>
            </a:r>
            <a:endParaRPr lang="en-US" sz="1875" dirty="0"/>
          </a:p>
        </p:txBody>
      </p:sp>
      <p:sp>
        <p:nvSpPr>
          <p:cNvPr id="87" name="Text 85"/>
          <p:cNvSpPr/>
          <p:nvPr/>
        </p:nvSpPr>
        <p:spPr>
          <a:xfrm>
            <a:off x="6781800" y="6954738"/>
            <a:ext cx="495300" cy="39241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02</a:t>
            </a:r>
            <a:endParaRPr lang="en-US" sz="1800" dirty="0"/>
          </a:p>
        </p:txBody>
      </p:sp>
      <p:sp>
        <p:nvSpPr>
          <p:cNvPr id="88" name="Text 86"/>
          <p:cNvSpPr/>
          <p:nvPr/>
        </p:nvSpPr>
        <p:spPr>
          <a:xfrm>
            <a:off x="7200900" y="6948389"/>
            <a:ext cx="4434459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15"/>
              </a:lnSpc>
              <a:buNone/>
            </a:pPr>
            <a:r>
              <a:rPr lang="en-US" sz="1875" dirty="0">
                <a:solidFill>
                  <a:srgbClr val="201E1D">
                    <a:alpha val="6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三条 AI 相关降级路径逐条实测，不是理论上应该可行。</a:t>
            </a:r>
            <a:endParaRPr lang="en-US" sz="1875" dirty="0"/>
          </a:p>
        </p:txBody>
      </p:sp>
      <p:sp>
        <p:nvSpPr>
          <p:cNvPr id="89" name="Text 87"/>
          <p:cNvSpPr/>
          <p:nvPr/>
        </p:nvSpPr>
        <p:spPr>
          <a:xfrm>
            <a:off x="12192000" y="6954738"/>
            <a:ext cx="495300" cy="39241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03</a:t>
            </a:r>
            <a:endParaRPr lang="en-US" sz="1800" dirty="0"/>
          </a:p>
        </p:txBody>
      </p:sp>
      <p:sp>
        <p:nvSpPr>
          <p:cNvPr id="90" name="Text 88"/>
          <p:cNvSpPr/>
          <p:nvPr/>
        </p:nvSpPr>
        <p:spPr>
          <a:xfrm>
            <a:off x="12611100" y="6948389"/>
            <a:ext cx="4434459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15"/>
              </a:lnSpc>
              <a:buNone/>
            </a:pPr>
            <a:r>
              <a:rPr lang="en-US" sz="1875" dirty="0">
                <a:solidFill>
                  <a:srgbClr val="201E1D">
                    <a:alpha val="6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当前后端、连接状态、降级原因与待补写条数在向量检索页直接可见。</a:t>
            </a:r>
            <a:endParaRPr lang="en-US" sz="1875" dirty="0"/>
          </a:p>
        </p:txBody>
      </p:sp>
      <p:sp>
        <p:nvSpPr>
          <p:cNvPr id="91" name="Shape 89"/>
          <p:cNvSpPr/>
          <p:nvPr/>
        </p:nvSpPr>
        <p:spPr>
          <a:xfrm>
            <a:off x="1371600" y="9079706"/>
            <a:ext cx="155448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92" name="Text 90"/>
          <p:cNvSpPr/>
          <p:nvPr/>
        </p:nvSpPr>
        <p:spPr>
          <a:xfrm>
            <a:off x="1371600" y="9219406"/>
            <a:ext cx="3371681" cy="191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01E1E">
                    <a:alpha val="44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康识问诊 · 技术汇报 · REV.4</a:t>
            </a:r>
            <a:endParaRPr lang="en-US" sz="1800" dirty="0"/>
          </a:p>
        </p:txBody>
      </p:sp>
      <p:sp>
        <p:nvSpPr>
          <p:cNvPr id="93" name="Text 91"/>
          <p:cNvSpPr/>
          <p:nvPr/>
        </p:nvSpPr>
        <p:spPr>
          <a:xfrm>
            <a:off x="16150333" y="9219406"/>
            <a:ext cx="842268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01E1E">
                    <a:alpha val="44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19 / 24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343819"/>
            <a:ext cx="155448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914400"/>
            <a:ext cx="15544800" cy="19050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066800"/>
            <a:ext cx="2871272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04 </a:t>
            </a:r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11F1D">
                    <a:alpha val="52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架构亮点与工程质量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735473" y="1066800"/>
            <a:ext cx="2399020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11F1D">
                    <a:alpha val="52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双写路由与补账队列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33400" y="4465638"/>
            <a:ext cx="345579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1F1F1F">
                    <a:alpha val="2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33400" y="4866481"/>
            <a:ext cx="345579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1F1F1F">
                    <a:alpha val="2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33400" y="5267325"/>
            <a:ext cx="345579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1F1F1F">
                    <a:alpha val="2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03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33400" y="5668169"/>
            <a:ext cx="345579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04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50963" y="1769269"/>
            <a:ext cx="17121982" cy="4337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69"/>
              </a:lnSpc>
              <a:buNone/>
            </a:pPr>
            <a:r>
              <a:rPr lang="en-US" sz="4650" b="1" spc="-70" kern="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双写路由与补账队列</a:t>
            </a:r>
            <a:endParaRPr lang="en-US" sz="4650" dirty="0"/>
          </a:p>
        </p:txBody>
      </p:sp>
      <p:sp>
        <p:nvSpPr>
          <p:cNvPr id="11" name="Text 9"/>
          <p:cNvSpPr/>
          <p:nvPr/>
        </p:nvSpPr>
        <p:spPr>
          <a:xfrm>
            <a:off x="1371600" y="2584053"/>
            <a:ext cx="521097" cy="39241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图 6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045097" y="2684859"/>
            <a:ext cx="6130647" cy="191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01E1E">
                    <a:alpha val="50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写入双写、检索自动回落、失败入队并在恢复后重放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847862" y="2684859"/>
            <a:ext cx="3375392" cy="191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01E1E">
                    <a:alpha val="50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来源 · RoutingVectorStore</a:t>
            </a:r>
            <a:endParaRPr lang="en-US" sz="18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71600" y="3166963"/>
            <a:ext cx="15544800" cy="35433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1371600" y="7129364"/>
            <a:ext cx="155448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1371600" y="7370663"/>
            <a:ext cx="495300" cy="39241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01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790700" y="7364313"/>
            <a:ext cx="4434459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15"/>
              </a:lnSpc>
              <a:buNone/>
            </a:pPr>
            <a:r>
              <a:rPr lang="en-US" sz="1875" dirty="0">
                <a:solidFill>
                  <a:srgbClr val="201E1D">
                    <a:alpha val="6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关键取舍是双写而非切换：内存永远先落一份完整备份，降级后检索依然准确。</a:t>
            </a:r>
            <a:endParaRPr lang="en-US" sz="1875" dirty="0"/>
          </a:p>
        </p:txBody>
      </p:sp>
      <p:sp>
        <p:nvSpPr>
          <p:cNvPr id="18" name="Text 15"/>
          <p:cNvSpPr/>
          <p:nvPr/>
        </p:nvSpPr>
        <p:spPr>
          <a:xfrm>
            <a:off x="6781800" y="7370663"/>
            <a:ext cx="495300" cy="39241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02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7200900" y="7364313"/>
            <a:ext cx="4434459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15"/>
              </a:lnSpc>
              <a:buNone/>
            </a:pPr>
            <a:r>
              <a:rPr lang="en-US" sz="1875" dirty="0">
                <a:solidFill>
                  <a:srgbClr val="201E1D">
                    <a:alpha val="6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删除以墓碑形式进队列参与排序，避免重放把已删文档复活。</a:t>
            </a:r>
            <a:endParaRPr lang="en-US" sz="1875" dirty="0"/>
          </a:p>
        </p:txBody>
      </p:sp>
      <p:sp>
        <p:nvSpPr>
          <p:cNvPr id="20" name="Text 17"/>
          <p:cNvSpPr/>
          <p:nvPr/>
        </p:nvSpPr>
        <p:spPr>
          <a:xfrm>
            <a:off x="12192000" y="7370663"/>
            <a:ext cx="495300" cy="39241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2611100" y="7364313"/>
            <a:ext cx="4434459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15"/>
              </a:lnSpc>
              <a:buNone/>
            </a:pPr>
            <a:r>
              <a:rPr lang="en-US" sz="1875" dirty="0">
                <a:solidFill>
                  <a:srgbClr val="201E1D">
                    <a:alpha val="6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启动比对已有集合维度，不一致自动删表重建；256 ↔ 1024 双向已验证。</a:t>
            </a:r>
            <a:endParaRPr lang="en-US" sz="1875" dirty="0"/>
          </a:p>
        </p:txBody>
      </p:sp>
      <p:sp>
        <p:nvSpPr>
          <p:cNvPr id="22" name="Shape 19"/>
          <p:cNvSpPr/>
          <p:nvPr/>
        </p:nvSpPr>
        <p:spPr>
          <a:xfrm>
            <a:off x="1371600" y="9079706"/>
            <a:ext cx="155448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1371600" y="9219406"/>
            <a:ext cx="3371681" cy="191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01E1E">
                    <a:alpha val="44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康识问诊 · 技术汇报 · REV.4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16150333" y="9219406"/>
            <a:ext cx="842268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01E1E">
                    <a:alpha val="44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20 / 24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343819"/>
            <a:ext cx="155448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914400"/>
            <a:ext cx="15544800" cy="19050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066800"/>
            <a:ext cx="2871272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04 </a:t>
            </a:r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11F1D">
                    <a:alpha val="52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架构亮点与工程质量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5220157" y="1066800"/>
            <a:ext cx="1865868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11F1D">
                    <a:alpha val="52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向量库接入前后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33400" y="4465638"/>
            <a:ext cx="345579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1F1F1F">
                    <a:alpha val="2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33400" y="4866481"/>
            <a:ext cx="345579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1F1F1F">
                    <a:alpha val="2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33400" y="5267325"/>
            <a:ext cx="345579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1F1F1F">
                    <a:alpha val="2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03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33400" y="5668169"/>
            <a:ext cx="345579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04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50963" y="1769269"/>
            <a:ext cx="17121982" cy="4337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69"/>
              </a:lnSpc>
              <a:buNone/>
            </a:pPr>
            <a:r>
              <a:rPr lang="en-US" sz="4650" b="1" spc="-70" kern="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向量库接入前后</a:t>
            </a:r>
            <a:endParaRPr lang="en-US" sz="4650" dirty="0"/>
          </a:p>
        </p:txBody>
      </p:sp>
      <p:sp>
        <p:nvSpPr>
          <p:cNvPr id="11" name="Text 9"/>
          <p:cNvSpPr/>
          <p:nvPr/>
        </p:nvSpPr>
        <p:spPr>
          <a:xfrm>
            <a:off x="1371600" y="2584053"/>
            <a:ext cx="521097" cy="39241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表 5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045097" y="2684859"/>
            <a:ext cx="4448681" cy="191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01E1E">
                    <a:alpha val="50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进程内向量与 Milvus 2.4 的六项对照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590191" y="2684859"/>
            <a:ext cx="3658830" cy="191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01E1E">
                    <a:alpha val="50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来源 · 集合 healthkb_chunks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371600" y="3959523"/>
            <a:ext cx="991691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600200" y="3695410"/>
            <a:ext cx="610691" cy="18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b="1" spc="108" kern="0" dirty="0">
                <a:solidFill>
                  <a:srgbClr val="201E1C">
                    <a:alpha val="60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序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363292" y="3959523"/>
            <a:ext cx="1971278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2591892" y="3695410"/>
            <a:ext cx="1590278" cy="18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b="1" spc="108" kern="0" dirty="0">
                <a:solidFill>
                  <a:srgbClr val="201E1C">
                    <a:alpha val="60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维度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334570" y="3959523"/>
            <a:ext cx="5512296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563170" y="3695410"/>
            <a:ext cx="5220465" cy="18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b="1" spc="108" kern="0" dirty="0">
                <a:solidFill>
                  <a:srgbClr val="201E1C">
                    <a:alpha val="60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接入前 · 进程内向量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846866" y="3959523"/>
            <a:ext cx="7069535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0075466" y="3695410"/>
            <a:ext cx="6824421" cy="18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b="1" spc="108" kern="0" dirty="0">
                <a:solidFill>
                  <a:srgbClr val="201E1C">
                    <a:alpha val="60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接入后 · MILVUS 2.4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371600" y="4347071"/>
            <a:ext cx="991691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600200" y="4076791"/>
            <a:ext cx="610691" cy="197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E">
                    <a:alpha val="40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01</a:t>
            </a:r>
            <a:endParaRPr lang="en-US" sz="1875" dirty="0"/>
          </a:p>
        </p:txBody>
      </p:sp>
      <p:sp>
        <p:nvSpPr>
          <p:cNvPr id="24" name="Shape 22"/>
          <p:cNvSpPr/>
          <p:nvPr/>
        </p:nvSpPr>
        <p:spPr>
          <a:xfrm>
            <a:off x="2363292" y="4347071"/>
            <a:ext cx="1971278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2591892" y="4076791"/>
            <a:ext cx="1590278" cy="197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检索方式</a:t>
            </a:r>
            <a:endParaRPr lang="en-US" sz="1875" dirty="0"/>
          </a:p>
        </p:txBody>
      </p:sp>
      <p:sp>
        <p:nvSpPr>
          <p:cNvPr id="26" name="Shape 24"/>
          <p:cNvSpPr/>
          <p:nvPr/>
        </p:nvSpPr>
        <p:spPr>
          <a:xfrm>
            <a:off x="4334570" y="4347071"/>
            <a:ext cx="5512296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563170" y="4076791"/>
            <a:ext cx="5220465" cy="197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逐条计算余弦，复杂度线性</a:t>
            </a:r>
            <a:endParaRPr lang="en-US" sz="1875" dirty="0"/>
          </a:p>
        </p:txBody>
      </p:sp>
      <p:sp>
        <p:nvSpPr>
          <p:cNvPr id="28" name="Shape 26"/>
          <p:cNvSpPr/>
          <p:nvPr/>
        </p:nvSpPr>
        <p:spPr>
          <a:xfrm>
            <a:off x="9846866" y="4347071"/>
            <a:ext cx="7069535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0075466" y="4076791"/>
            <a:ext cx="6824421" cy="197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00678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HNSW 索引，M=8，efConstruction=64</a:t>
            </a:r>
            <a:endParaRPr lang="en-US" sz="1875" dirty="0"/>
          </a:p>
        </p:txBody>
      </p:sp>
      <p:sp>
        <p:nvSpPr>
          <p:cNvPr id="30" name="Shape 28"/>
          <p:cNvSpPr/>
          <p:nvPr/>
        </p:nvSpPr>
        <p:spPr>
          <a:xfrm>
            <a:off x="1371600" y="4734620"/>
            <a:ext cx="991691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1600200" y="4464340"/>
            <a:ext cx="610691" cy="197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E">
                    <a:alpha val="40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02</a:t>
            </a:r>
            <a:endParaRPr lang="en-US" sz="1875" dirty="0"/>
          </a:p>
        </p:txBody>
      </p:sp>
      <p:sp>
        <p:nvSpPr>
          <p:cNvPr id="32" name="Shape 30"/>
          <p:cNvSpPr/>
          <p:nvPr/>
        </p:nvSpPr>
        <p:spPr>
          <a:xfrm>
            <a:off x="2363292" y="4734620"/>
            <a:ext cx="1971278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2591892" y="4464340"/>
            <a:ext cx="1590278" cy="197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数据存活</a:t>
            </a:r>
            <a:endParaRPr lang="en-US" sz="1875" dirty="0"/>
          </a:p>
        </p:txBody>
      </p:sp>
      <p:sp>
        <p:nvSpPr>
          <p:cNvPr id="34" name="Shape 32"/>
          <p:cNvSpPr/>
          <p:nvPr/>
        </p:nvSpPr>
        <p:spPr>
          <a:xfrm>
            <a:off x="4334570" y="4734620"/>
            <a:ext cx="5512296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4563170" y="4464340"/>
            <a:ext cx="5220465" cy="197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重启即丢，每次重跑 embedding</a:t>
            </a:r>
            <a:endParaRPr lang="en-US" sz="1875" dirty="0"/>
          </a:p>
        </p:txBody>
      </p:sp>
      <p:sp>
        <p:nvSpPr>
          <p:cNvPr id="36" name="Shape 34"/>
          <p:cNvSpPr/>
          <p:nvPr/>
        </p:nvSpPr>
        <p:spPr>
          <a:xfrm>
            <a:off x="9846866" y="4734620"/>
            <a:ext cx="7069535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10075466" y="4464340"/>
            <a:ext cx="6824421" cy="197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00678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落盘持久化，重启后仍在</a:t>
            </a:r>
            <a:endParaRPr lang="en-US" sz="1875" dirty="0"/>
          </a:p>
        </p:txBody>
      </p:sp>
      <p:sp>
        <p:nvSpPr>
          <p:cNvPr id="38" name="Shape 36"/>
          <p:cNvSpPr/>
          <p:nvPr/>
        </p:nvSpPr>
        <p:spPr>
          <a:xfrm>
            <a:off x="1371600" y="5122168"/>
            <a:ext cx="991691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1600200" y="4851888"/>
            <a:ext cx="610691" cy="197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E">
                    <a:alpha val="40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03</a:t>
            </a:r>
            <a:endParaRPr lang="en-US" sz="1875" dirty="0"/>
          </a:p>
        </p:txBody>
      </p:sp>
      <p:sp>
        <p:nvSpPr>
          <p:cNvPr id="40" name="Shape 38"/>
          <p:cNvSpPr/>
          <p:nvPr/>
        </p:nvSpPr>
        <p:spPr>
          <a:xfrm>
            <a:off x="2363292" y="5122168"/>
            <a:ext cx="1971278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2591892" y="4851888"/>
            <a:ext cx="1590278" cy="197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召回策略</a:t>
            </a:r>
            <a:endParaRPr lang="en-US" sz="1875" dirty="0"/>
          </a:p>
        </p:txBody>
      </p:sp>
      <p:sp>
        <p:nvSpPr>
          <p:cNvPr id="42" name="Shape 40"/>
          <p:cNvSpPr/>
          <p:nvPr/>
        </p:nvSpPr>
        <p:spPr>
          <a:xfrm>
            <a:off x="4334570" y="5122168"/>
            <a:ext cx="5512296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4563170" y="4851888"/>
            <a:ext cx="5220465" cy="197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直接取 top-k</a:t>
            </a:r>
            <a:endParaRPr lang="en-US" sz="1875" dirty="0"/>
          </a:p>
        </p:txBody>
      </p:sp>
      <p:sp>
        <p:nvSpPr>
          <p:cNvPr id="44" name="Shape 42"/>
          <p:cNvSpPr/>
          <p:nvPr/>
        </p:nvSpPr>
        <p:spPr>
          <a:xfrm>
            <a:off x="9846866" y="5122168"/>
            <a:ext cx="7069535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10075466" y="4851888"/>
            <a:ext cx="6824421" cy="197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00678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召回 24 条候选，再按医学词项精排截断</a:t>
            </a:r>
            <a:endParaRPr lang="en-US" sz="1875" dirty="0"/>
          </a:p>
        </p:txBody>
      </p:sp>
      <p:sp>
        <p:nvSpPr>
          <p:cNvPr id="46" name="Shape 44"/>
          <p:cNvSpPr/>
          <p:nvPr/>
        </p:nvSpPr>
        <p:spPr>
          <a:xfrm>
            <a:off x="1371600" y="5509717"/>
            <a:ext cx="991691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1600200" y="5239437"/>
            <a:ext cx="610691" cy="197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E">
                    <a:alpha val="40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04</a:t>
            </a:r>
            <a:endParaRPr lang="en-US" sz="1875" dirty="0"/>
          </a:p>
        </p:txBody>
      </p:sp>
      <p:sp>
        <p:nvSpPr>
          <p:cNvPr id="48" name="Shape 46"/>
          <p:cNvSpPr/>
          <p:nvPr/>
        </p:nvSpPr>
        <p:spPr>
          <a:xfrm>
            <a:off x="2363292" y="5509717"/>
            <a:ext cx="1971278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2591892" y="5239437"/>
            <a:ext cx="1590278" cy="197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集合状态</a:t>
            </a:r>
            <a:endParaRPr lang="en-US" sz="1875" dirty="0"/>
          </a:p>
        </p:txBody>
      </p:sp>
      <p:sp>
        <p:nvSpPr>
          <p:cNvPr id="50" name="Shape 48"/>
          <p:cNvSpPr/>
          <p:nvPr/>
        </p:nvSpPr>
        <p:spPr>
          <a:xfrm>
            <a:off x="4334570" y="5509717"/>
            <a:ext cx="5512296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4563170" y="5239437"/>
            <a:ext cx="5220465" cy="197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—</a:t>
            </a:r>
            <a:endParaRPr lang="en-US" sz="1875" dirty="0"/>
          </a:p>
        </p:txBody>
      </p:sp>
      <p:sp>
        <p:nvSpPr>
          <p:cNvPr id="52" name="Shape 50"/>
          <p:cNvSpPr/>
          <p:nvPr/>
        </p:nvSpPr>
        <p:spPr>
          <a:xfrm>
            <a:off x="9846866" y="5509717"/>
            <a:ext cx="7069535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10075466" y="5239437"/>
            <a:ext cx="6824421" cy="1974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00678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healthkb_chunks · 88 条 · 256 维 · COSINE</a:t>
            </a:r>
            <a:endParaRPr lang="en-US" sz="1875" dirty="0"/>
          </a:p>
        </p:txBody>
      </p:sp>
      <p:sp>
        <p:nvSpPr>
          <p:cNvPr id="54" name="Shape 52"/>
          <p:cNvSpPr/>
          <p:nvPr/>
        </p:nvSpPr>
        <p:spPr>
          <a:xfrm>
            <a:off x="1371600" y="5897265"/>
            <a:ext cx="991691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1600200" y="5626985"/>
            <a:ext cx="610691" cy="197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E">
                    <a:alpha val="40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05</a:t>
            </a:r>
            <a:endParaRPr lang="en-US" sz="1875" dirty="0"/>
          </a:p>
        </p:txBody>
      </p:sp>
      <p:sp>
        <p:nvSpPr>
          <p:cNvPr id="56" name="Shape 54"/>
          <p:cNvSpPr/>
          <p:nvPr/>
        </p:nvSpPr>
        <p:spPr>
          <a:xfrm>
            <a:off x="2363292" y="5897265"/>
            <a:ext cx="1971278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2591892" y="5626985"/>
            <a:ext cx="1590278" cy="197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启动开销</a:t>
            </a:r>
            <a:endParaRPr lang="en-US" sz="1875" dirty="0"/>
          </a:p>
        </p:txBody>
      </p:sp>
      <p:sp>
        <p:nvSpPr>
          <p:cNvPr id="58" name="Shape 56"/>
          <p:cNvSpPr/>
          <p:nvPr/>
        </p:nvSpPr>
        <p:spPr>
          <a:xfrm>
            <a:off x="4334570" y="5897265"/>
            <a:ext cx="5512296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4563170" y="5626985"/>
            <a:ext cx="5220465" cy="197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每次启动全量重跑 embedding</a:t>
            </a:r>
            <a:endParaRPr lang="en-US" sz="1875" dirty="0"/>
          </a:p>
        </p:txBody>
      </p:sp>
      <p:sp>
        <p:nvSpPr>
          <p:cNvPr id="60" name="Shape 58"/>
          <p:cNvSpPr/>
          <p:nvPr/>
        </p:nvSpPr>
        <p:spPr>
          <a:xfrm>
            <a:off x="9846866" y="5897265"/>
            <a:ext cx="7069535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10075466" y="5626985"/>
            <a:ext cx="6824421" cy="197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条数一致则只回灌内存备份</a:t>
            </a:r>
            <a:endParaRPr lang="en-US" sz="1875" dirty="0"/>
          </a:p>
        </p:txBody>
      </p:sp>
      <p:sp>
        <p:nvSpPr>
          <p:cNvPr id="62" name="Shape 60"/>
          <p:cNvSpPr/>
          <p:nvPr/>
        </p:nvSpPr>
        <p:spPr>
          <a:xfrm>
            <a:off x="1371600" y="6284814"/>
            <a:ext cx="991691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1600200" y="6014534"/>
            <a:ext cx="610691" cy="197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E">
                    <a:alpha val="40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06</a:t>
            </a:r>
            <a:endParaRPr lang="en-US" sz="1875" dirty="0"/>
          </a:p>
        </p:txBody>
      </p:sp>
      <p:sp>
        <p:nvSpPr>
          <p:cNvPr id="64" name="Shape 62"/>
          <p:cNvSpPr/>
          <p:nvPr/>
        </p:nvSpPr>
        <p:spPr>
          <a:xfrm>
            <a:off x="2363292" y="6284814"/>
            <a:ext cx="1971278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2591892" y="6014534"/>
            <a:ext cx="1590278" cy="197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部署形态</a:t>
            </a:r>
            <a:endParaRPr lang="en-US" sz="1875" dirty="0"/>
          </a:p>
        </p:txBody>
      </p:sp>
      <p:sp>
        <p:nvSpPr>
          <p:cNvPr id="66" name="Shape 64"/>
          <p:cNvSpPr/>
          <p:nvPr/>
        </p:nvSpPr>
        <p:spPr>
          <a:xfrm>
            <a:off x="4334570" y="6284814"/>
            <a:ext cx="5512296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4563170" y="6014534"/>
            <a:ext cx="5220465" cy="197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—</a:t>
            </a:r>
            <a:endParaRPr lang="en-US" sz="1875" dirty="0"/>
          </a:p>
        </p:txBody>
      </p:sp>
      <p:sp>
        <p:nvSpPr>
          <p:cNvPr id="68" name="Shape 66"/>
          <p:cNvSpPr/>
          <p:nvPr/>
        </p:nvSpPr>
        <p:spPr>
          <a:xfrm>
            <a:off x="9846866" y="6284814"/>
            <a:ext cx="7069535" cy="9525"/>
          </a:xfrm>
          <a:prstGeom prst="rect">
            <a:avLst/>
          </a:prstGeom>
          <a:solidFill>
            <a:srgbClr val="261A1A">
              <a:alpha val="8000"/>
            </a:srgbClr>
          </a:solidFill>
          <a:ln/>
        </p:spPr>
      </p:sp>
      <p:sp>
        <p:nvSpPr>
          <p:cNvPr id="69" name="Text 67"/>
          <p:cNvSpPr/>
          <p:nvPr/>
        </p:nvSpPr>
        <p:spPr>
          <a:xfrm>
            <a:off x="10075466" y="6014534"/>
            <a:ext cx="6824421" cy="197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1779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内嵌 etcd + 本地存储，三镜像压成一个</a:t>
            </a:r>
            <a:endParaRPr lang="en-US" sz="1875" dirty="0"/>
          </a:p>
        </p:txBody>
      </p:sp>
      <p:sp>
        <p:nvSpPr>
          <p:cNvPr id="70" name="Shape 68"/>
          <p:cNvSpPr/>
          <p:nvPr/>
        </p:nvSpPr>
        <p:spPr>
          <a:xfrm>
            <a:off x="1371600" y="6713438"/>
            <a:ext cx="155448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71" name="Text 69"/>
          <p:cNvSpPr/>
          <p:nvPr/>
        </p:nvSpPr>
        <p:spPr>
          <a:xfrm>
            <a:off x="1371600" y="6954738"/>
            <a:ext cx="495300" cy="39241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01</a:t>
            </a:r>
            <a:endParaRPr lang="en-US" sz="1800" dirty="0"/>
          </a:p>
        </p:txBody>
      </p:sp>
      <p:sp>
        <p:nvSpPr>
          <p:cNvPr id="72" name="Text 70"/>
          <p:cNvSpPr/>
          <p:nvPr/>
        </p:nvSpPr>
        <p:spPr>
          <a:xfrm>
            <a:off x="1790700" y="6948389"/>
            <a:ext cx="4434459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15"/>
              </a:lnSpc>
              <a:buNone/>
            </a:pPr>
            <a:r>
              <a:rPr lang="en-US" sz="1875" dirty="0">
                <a:solidFill>
                  <a:srgbClr val="201E1D">
                    <a:alpha val="6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关系库只能全表逐条算相似度；HNSW 建索引后为次线性复杂度。</a:t>
            </a:r>
            <a:endParaRPr lang="en-US" sz="1875" dirty="0"/>
          </a:p>
        </p:txBody>
      </p:sp>
      <p:sp>
        <p:nvSpPr>
          <p:cNvPr id="73" name="Text 71"/>
          <p:cNvSpPr/>
          <p:nvPr/>
        </p:nvSpPr>
        <p:spPr>
          <a:xfrm>
            <a:off x="6781800" y="6954738"/>
            <a:ext cx="495300" cy="39241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02</a:t>
            </a:r>
            <a:endParaRPr lang="en-US" sz="1800" dirty="0"/>
          </a:p>
        </p:txBody>
      </p:sp>
      <p:sp>
        <p:nvSpPr>
          <p:cNvPr id="74" name="Text 72"/>
          <p:cNvSpPr/>
          <p:nvPr/>
        </p:nvSpPr>
        <p:spPr>
          <a:xfrm>
            <a:off x="7200900" y="6948389"/>
            <a:ext cx="4434459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15"/>
              </a:lnSpc>
              <a:buNone/>
            </a:pPr>
            <a:r>
              <a:rPr lang="en-US" sz="1875" dirty="0">
                <a:solidFill>
                  <a:srgbClr val="201E1D">
                    <a:alpha val="6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88 条为演示数据量，扩充只需往知识库导文档，切分与向量化全自动。</a:t>
            </a:r>
            <a:endParaRPr lang="en-US" sz="1875" dirty="0"/>
          </a:p>
        </p:txBody>
      </p:sp>
      <p:sp>
        <p:nvSpPr>
          <p:cNvPr id="75" name="Text 73"/>
          <p:cNvSpPr/>
          <p:nvPr/>
        </p:nvSpPr>
        <p:spPr>
          <a:xfrm>
            <a:off x="12192000" y="6954738"/>
            <a:ext cx="495300" cy="39241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03</a:t>
            </a:r>
            <a:endParaRPr lang="en-US" sz="1800" dirty="0"/>
          </a:p>
        </p:txBody>
      </p:sp>
      <p:sp>
        <p:nvSpPr>
          <p:cNvPr id="76" name="Text 74"/>
          <p:cNvSpPr/>
          <p:nvPr/>
        </p:nvSpPr>
        <p:spPr>
          <a:xfrm>
            <a:off x="12611100" y="6948389"/>
            <a:ext cx="4434459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15"/>
              </a:lnSpc>
              <a:buNone/>
            </a:pPr>
            <a:r>
              <a:rPr lang="en-US" sz="1875" dirty="0">
                <a:solidFill>
                  <a:srgbClr val="201E1D">
                    <a:alpha val="6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维度写死在建表 schema 里，换 embedding 模型由启动自愈逻辑处理。</a:t>
            </a:r>
            <a:endParaRPr lang="en-US" sz="1875" dirty="0"/>
          </a:p>
        </p:txBody>
      </p:sp>
      <p:sp>
        <p:nvSpPr>
          <p:cNvPr id="77" name="Shape 75"/>
          <p:cNvSpPr/>
          <p:nvPr/>
        </p:nvSpPr>
        <p:spPr>
          <a:xfrm>
            <a:off x="1371600" y="9079706"/>
            <a:ext cx="155448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78" name="Text 76"/>
          <p:cNvSpPr/>
          <p:nvPr/>
        </p:nvSpPr>
        <p:spPr>
          <a:xfrm>
            <a:off x="1371600" y="9219406"/>
            <a:ext cx="3371681" cy="191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01E1E">
                    <a:alpha val="44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康识问诊 · 技术汇报 · REV.4</a:t>
            </a:r>
            <a:endParaRPr lang="en-US" sz="1800" dirty="0"/>
          </a:p>
        </p:txBody>
      </p:sp>
      <p:sp>
        <p:nvSpPr>
          <p:cNvPr id="79" name="Text 77"/>
          <p:cNvSpPr/>
          <p:nvPr/>
        </p:nvSpPr>
        <p:spPr>
          <a:xfrm>
            <a:off x="16150333" y="9219406"/>
            <a:ext cx="842268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01E1E">
                    <a:alpha val="44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21 / 24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343819"/>
            <a:ext cx="155448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914400"/>
            <a:ext cx="15544800" cy="19050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066800"/>
            <a:ext cx="2871272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04 </a:t>
            </a:r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11F1D">
                    <a:alpha val="52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架构亮点与工程质量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5947132" y="1066800"/>
            <a:ext cx="1045468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11F1D">
                    <a:alpha val="52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源码构成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33400" y="4465638"/>
            <a:ext cx="345579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1F1F1F">
                    <a:alpha val="2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33400" y="4866481"/>
            <a:ext cx="345579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1F1F1F">
                    <a:alpha val="2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33400" y="5267325"/>
            <a:ext cx="345579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1F1F1F">
                    <a:alpha val="2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03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33400" y="5668169"/>
            <a:ext cx="345579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04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50963" y="1769269"/>
            <a:ext cx="17121982" cy="4337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69"/>
              </a:lnSpc>
              <a:buNone/>
            </a:pPr>
            <a:r>
              <a:rPr lang="en-US" sz="4650" b="1" spc="-70" kern="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源码构成</a:t>
            </a:r>
            <a:endParaRPr lang="en-US" sz="4650" dirty="0"/>
          </a:p>
        </p:txBody>
      </p:sp>
      <p:sp>
        <p:nvSpPr>
          <p:cNvPr id="11" name="Text 9"/>
          <p:cNvSpPr/>
          <p:nvPr/>
        </p:nvSpPr>
        <p:spPr>
          <a:xfrm>
            <a:off x="1371600" y="2584053"/>
            <a:ext cx="521097" cy="39241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图 7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045097" y="2684859"/>
            <a:ext cx="4203224" cy="191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01E1E">
                    <a:alpha val="50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后端各包 Java 源文件数 · 共 102 个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572755" y="2684859"/>
            <a:ext cx="2578011" cy="191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01E1E">
                    <a:alpha val="50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前端另有 60 个源文件</a:t>
            </a:r>
            <a:endParaRPr lang="en-US" sz="18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71600" y="3166963"/>
            <a:ext cx="15544800" cy="40005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1371600" y="7586564"/>
            <a:ext cx="155448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1371600" y="7827863"/>
            <a:ext cx="495300" cy="39241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01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790700" y="7821513"/>
            <a:ext cx="4434459" cy="1123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15"/>
              </a:lnSpc>
              <a:buNone/>
            </a:pPr>
            <a:r>
              <a:rPr lang="en-US" sz="1875" dirty="0">
                <a:solidFill>
                  <a:srgbClr val="201E1D">
                    <a:alpha val="6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rag 包含三种向量存储实现与路由层、切分器、embedding 服务、LLM 客户端与模板兜底。</a:t>
            </a:r>
            <a:endParaRPr lang="en-US" sz="1875" dirty="0"/>
          </a:p>
        </p:txBody>
      </p:sp>
      <p:sp>
        <p:nvSpPr>
          <p:cNvPr id="18" name="Text 15"/>
          <p:cNvSpPr/>
          <p:nvPr/>
        </p:nvSpPr>
        <p:spPr>
          <a:xfrm>
            <a:off x="6781800" y="7827863"/>
            <a:ext cx="495300" cy="39241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02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7200900" y="7821513"/>
            <a:ext cx="4434459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15"/>
              </a:lnSpc>
              <a:buNone/>
            </a:pPr>
            <a:r>
              <a:rPr lang="en-US" sz="1875" dirty="0">
                <a:solidFill>
                  <a:srgbClr val="201E1D">
                    <a:alpha val="6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两个适配类把 Milvus 适配成 LangChain4j 的 EmbeddingStore。</a:t>
            </a:r>
            <a:endParaRPr lang="en-US" sz="1875" dirty="0"/>
          </a:p>
        </p:txBody>
      </p:sp>
      <p:sp>
        <p:nvSpPr>
          <p:cNvPr id="20" name="Text 17"/>
          <p:cNvSpPr/>
          <p:nvPr/>
        </p:nvSpPr>
        <p:spPr>
          <a:xfrm>
            <a:off x="12192000" y="7827863"/>
            <a:ext cx="495300" cy="39241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2611100" y="7821513"/>
            <a:ext cx="4434459" cy="1123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15"/>
              </a:lnSpc>
              <a:buNone/>
            </a:pPr>
            <a:r>
              <a:rPr lang="en-US" sz="1875" dirty="0">
                <a:solidFill>
                  <a:srgbClr val="201E1D">
                    <a:alpha val="6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前端 60 个源文件：12 个接口封装、18 个组件，问答页与档案页各拆 3–6 个子组件。</a:t>
            </a:r>
            <a:endParaRPr lang="en-US" sz="1875" dirty="0"/>
          </a:p>
        </p:txBody>
      </p:sp>
      <p:sp>
        <p:nvSpPr>
          <p:cNvPr id="22" name="Shape 19"/>
          <p:cNvSpPr/>
          <p:nvPr/>
        </p:nvSpPr>
        <p:spPr>
          <a:xfrm>
            <a:off x="1371600" y="9079706"/>
            <a:ext cx="155448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1371600" y="9219406"/>
            <a:ext cx="3371681" cy="191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01E1E">
                    <a:alpha val="44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康识问诊 · 技术汇报 · REV.4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16150333" y="9219406"/>
            <a:ext cx="842268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01E1E">
                    <a:alpha val="44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22 / 24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343819"/>
            <a:ext cx="155448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914400"/>
            <a:ext cx="15544800" cy="19050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066800"/>
            <a:ext cx="2871272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04 </a:t>
            </a:r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11F1D">
                    <a:alpha val="52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架构亮点与工程质量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735473" y="1066800"/>
            <a:ext cx="2399020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11F1D">
                    <a:alpha val="52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工程质量与测试演进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33400" y="4465638"/>
            <a:ext cx="345579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1F1F1F">
                    <a:alpha val="2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33400" y="4866481"/>
            <a:ext cx="345579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1F1F1F">
                    <a:alpha val="2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33400" y="5267325"/>
            <a:ext cx="345579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1F1F1F">
                    <a:alpha val="2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03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33400" y="5668169"/>
            <a:ext cx="345579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04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50963" y="1769269"/>
            <a:ext cx="17121982" cy="4337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669"/>
              </a:lnSpc>
              <a:buNone/>
            </a:pPr>
            <a:r>
              <a:rPr lang="en-US" sz="4650" b="1" spc="-70" kern="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工程质量与测试演进</a:t>
            </a:r>
            <a:endParaRPr lang="en-US" sz="4650" dirty="0"/>
          </a:p>
        </p:txBody>
      </p:sp>
      <p:sp>
        <p:nvSpPr>
          <p:cNvPr id="11" name="Text 9"/>
          <p:cNvSpPr/>
          <p:nvPr/>
        </p:nvSpPr>
        <p:spPr>
          <a:xfrm>
            <a:off x="1371600" y="2584053"/>
            <a:ext cx="521097" cy="39241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图 8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045097" y="2684859"/>
            <a:ext cx="3172500" cy="191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01E1E">
                    <a:alpha val="50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后端测试用例数 · 四轮改进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614823" y="2684859"/>
            <a:ext cx="2531735" cy="191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01E1E">
                    <a:alpha val="50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来源 · mvn test 输出</a:t>
            </a:r>
            <a:endParaRPr lang="en-US" sz="18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71600" y="3166963"/>
            <a:ext cx="15544800" cy="40005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1371600" y="7586564"/>
            <a:ext cx="155448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1371600" y="7827863"/>
            <a:ext cx="495300" cy="39241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01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790700" y="7821513"/>
            <a:ext cx="4434459" cy="1123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15"/>
              </a:lnSpc>
              <a:buNone/>
            </a:pPr>
            <a:r>
              <a:rPr lang="en-US" sz="1875" dirty="0">
                <a:solidFill>
                  <a:srgbClr val="201E1D">
                    <a:alpha val="6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28 个测试类覆盖隐私越权、分页、导入幂等、限流、缓存、切块、精排与降级回落。</a:t>
            </a:r>
            <a:endParaRPr lang="en-US" sz="1875" dirty="0"/>
          </a:p>
        </p:txBody>
      </p:sp>
      <p:sp>
        <p:nvSpPr>
          <p:cNvPr id="18" name="Text 15"/>
          <p:cNvSpPr/>
          <p:nvPr/>
        </p:nvSpPr>
        <p:spPr>
          <a:xfrm>
            <a:off x="6781800" y="7827863"/>
            <a:ext cx="495300" cy="39241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02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7200900" y="7821513"/>
            <a:ext cx="4434459" cy="1123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15"/>
              </a:lnSpc>
              <a:buNone/>
            </a:pPr>
            <a:r>
              <a:rPr lang="en-US" sz="1875" dirty="0">
                <a:solidFill>
                  <a:srgbClr val="201E1D">
                    <a:alpha val="6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CI 每次 push 与 PR 跑三件事：后端 mvn test、前端类型检查与构建、密钥自查。</a:t>
            </a:r>
            <a:endParaRPr lang="en-US" sz="1875" dirty="0"/>
          </a:p>
        </p:txBody>
      </p:sp>
      <p:sp>
        <p:nvSpPr>
          <p:cNvPr id="20" name="Text 17"/>
          <p:cNvSpPr/>
          <p:nvPr/>
        </p:nvSpPr>
        <p:spPr>
          <a:xfrm>
            <a:off x="12192000" y="7827863"/>
            <a:ext cx="495300" cy="39241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2611100" y="7821513"/>
            <a:ext cx="4434459" cy="1123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15"/>
              </a:lnSpc>
              <a:buNone/>
            </a:pPr>
            <a:r>
              <a:rPr lang="en-US" sz="1875" dirty="0">
                <a:solidFill>
                  <a:srgbClr val="201E1D">
                    <a:alpha val="66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限流按用户维度固定窗口：问答 20 次/分、上传 5 次/分、建议 10 次/分、登录 10 次/分（IP）。</a:t>
            </a:r>
            <a:endParaRPr lang="en-US" sz="1875" dirty="0"/>
          </a:p>
        </p:txBody>
      </p:sp>
      <p:sp>
        <p:nvSpPr>
          <p:cNvPr id="22" name="Shape 19"/>
          <p:cNvSpPr/>
          <p:nvPr/>
        </p:nvSpPr>
        <p:spPr>
          <a:xfrm>
            <a:off x="1371600" y="9079706"/>
            <a:ext cx="155448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1371600" y="9219406"/>
            <a:ext cx="3371681" cy="191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01E1E">
                    <a:alpha val="44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康识问诊 · 技术汇报 · REV.4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16150333" y="9219406"/>
            <a:ext cx="842268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01E1E">
                    <a:alpha val="44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23 / 24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343819"/>
            <a:ext cx="155448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914400"/>
            <a:ext cx="15544800" cy="19050"/>
          </a:xfrm>
          <a:prstGeom prst="rect">
            <a:avLst/>
          </a:prstGeom>
          <a:solidFill>
            <a:srgbClr val="201E1D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066800"/>
            <a:ext cx="2372826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11F1D">
                    <a:alpha val="52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技术汇报 · 康识问诊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431717" y="1066800"/>
            <a:ext cx="560884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11F1D">
                    <a:alpha val="52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结语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34294" y="2378869"/>
            <a:ext cx="17140318" cy="7528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043"/>
              </a:lnSpc>
              <a:buNone/>
            </a:pPr>
            <a:r>
              <a:rPr lang="en-US" sz="8400" b="1" spc="-168" kern="0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谢谢</a:t>
            </a:r>
            <a:endParaRPr lang="en-US" sz="8400" dirty="0"/>
          </a:p>
        </p:txBody>
      </p:sp>
      <p:sp>
        <p:nvSpPr>
          <p:cNvPr id="7" name="Text 5"/>
          <p:cNvSpPr/>
          <p:nvPr/>
        </p:nvSpPr>
        <p:spPr>
          <a:xfrm>
            <a:off x="1371600" y="3493691"/>
            <a:ext cx="7411102" cy="2609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186"/>
              </a:lnSpc>
              <a:buNone/>
            </a:pPr>
            <a:r>
              <a:rPr lang="en-US" sz="3150" dirty="0">
                <a:solidFill>
                  <a:srgbClr val="211D1D">
                    <a:alpha val="55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化验单拍下来就能读、指标异常会自动提醒、问题可以追着问 —— 底层是 Spring AI + LangChain4j + Milvus 的完整 RAG 链路，各层可缺省，断网也能演示。</a:t>
            </a:r>
            <a:endParaRPr lang="en-US" sz="3150" dirty="0"/>
          </a:p>
        </p:txBody>
      </p:sp>
      <p:sp>
        <p:nvSpPr>
          <p:cNvPr id="8" name="Shape 6"/>
          <p:cNvSpPr/>
          <p:nvPr/>
        </p:nvSpPr>
        <p:spPr>
          <a:xfrm>
            <a:off x="1371600" y="7094141"/>
            <a:ext cx="155448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7329091"/>
            <a:ext cx="2724150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可离线演示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7615635"/>
            <a:ext cx="2552700" cy="609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98"/>
              </a:lnSpc>
              <a:buNone/>
            </a:pPr>
            <a:r>
              <a:rPr lang="en-US" sz="2025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断网 · 无 Docker · 无 Key</a:t>
            </a:r>
            <a:endParaRPr lang="en-US" sz="2025" dirty="0"/>
          </a:p>
        </p:txBody>
      </p:sp>
      <p:sp>
        <p:nvSpPr>
          <p:cNvPr id="11" name="Text 9"/>
          <p:cNvSpPr/>
          <p:nvPr/>
        </p:nvSpPr>
        <p:spPr>
          <a:xfrm>
            <a:off x="4533900" y="7329091"/>
            <a:ext cx="2724150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硬依赖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33900" y="7615635"/>
            <a:ext cx="2724150" cy="210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98"/>
              </a:lnSpc>
              <a:buNone/>
            </a:pPr>
            <a:r>
              <a:rPr lang="en-US" sz="2025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仅 MySQL，可切 H2</a:t>
            </a:r>
            <a:endParaRPr lang="en-US" sz="2025" dirty="0"/>
          </a:p>
        </p:txBody>
      </p:sp>
      <p:sp>
        <p:nvSpPr>
          <p:cNvPr id="13" name="Text 11"/>
          <p:cNvSpPr/>
          <p:nvPr/>
        </p:nvSpPr>
        <p:spPr>
          <a:xfrm>
            <a:off x="7696200" y="7329091"/>
            <a:ext cx="2724150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测试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696200" y="7615635"/>
            <a:ext cx="2724150" cy="210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98"/>
              </a:lnSpc>
              <a:buNone/>
            </a:pPr>
            <a:r>
              <a:rPr lang="en-US" sz="2025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94 / 94 全绿</a:t>
            </a:r>
            <a:endParaRPr lang="en-US" sz="2025" dirty="0"/>
          </a:p>
        </p:txBody>
      </p:sp>
      <p:sp>
        <p:nvSpPr>
          <p:cNvPr id="15" name="Text 13"/>
          <p:cNvSpPr/>
          <p:nvPr/>
        </p:nvSpPr>
        <p:spPr>
          <a:xfrm>
            <a:off x="10858500" y="7329091"/>
            <a:ext cx="2724150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0088B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下一步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858500" y="7615635"/>
            <a:ext cx="2552700" cy="609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98"/>
              </a:lnSpc>
              <a:buNone/>
            </a:pPr>
            <a:r>
              <a:rPr lang="en-US" sz="2025" dirty="0">
                <a:solidFill>
                  <a:srgbClr val="201E1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扩充知识库与指标覆盖</a:t>
            </a:r>
            <a:endParaRPr lang="en-US" sz="2025" dirty="0"/>
          </a:p>
        </p:txBody>
      </p:sp>
      <p:sp>
        <p:nvSpPr>
          <p:cNvPr id="17" name="Shape 15"/>
          <p:cNvSpPr/>
          <p:nvPr/>
        </p:nvSpPr>
        <p:spPr>
          <a:xfrm>
            <a:off x="1371600" y="9079706"/>
            <a:ext cx="15544800" cy="9525"/>
          </a:xfrm>
          <a:prstGeom prst="rect">
            <a:avLst/>
          </a:prstGeom>
          <a:solidFill>
            <a:srgbClr val="1F1F1F">
              <a:alpha val="16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371600" y="9219406"/>
            <a:ext cx="9595753" cy="191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01E1E">
                    <a:alpha val="44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本系统全部内容仅供健康科普与技术演示，不能替代执业医师的面诊、检查与处方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150333" y="9219406"/>
            <a:ext cx="842268" cy="191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3878"/>
              </a:lnSpc>
              <a:buNone/>
            </a:pPr>
            <a:r>
              <a:rPr lang="en-US" sz="1800" spc="108" kern="0" dirty="0">
                <a:solidFill>
                  <a:srgbClr val="201E1E">
                    <a:alpha val="44000"/>
                  </a:srgbClr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24 / 24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410075" y="190500"/>
            <a:ext cx="609600" cy="152400"/>
          </a:xfrm>
          <a:prstGeom prst="rect">
            <a:avLst/>
          </a:prstGeom>
          <a:gradFill rotWithShape="1">
            <a:gsLst>
              <a:gs pos="0">
                <a:srgbClr val="0088B0">
                  <a:alpha val="100000"/>
                </a:srgbClr>
              </a:gs>
              <a:gs pos="25000">
                <a:srgbClr val="0088B0">
                  <a:alpha val="100000"/>
                </a:srgbClr>
              </a:gs>
              <a:gs pos="25000">
                <a:srgbClr val="D6006C">
                  <a:alpha val="100000"/>
                </a:srgbClr>
              </a:gs>
              <a:gs pos="50000">
                <a:srgbClr val="D6006C">
                  <a:alpha val="100000"/>
                </a:srgbClr>
              </a:gs>
              <a:gs pos="50000">
                <a:srgbClr val="EDBB00">
                  <a:alpha val="100000"/>
                </a:srgbClr>
              </a:gs>
              <a:gs pos="75000">
                <a:srgbClr val="EDBB00">
                  <a:alpha val="100000"/>
                </a:srgbClr>
              </a:gs>
              <a:gs pos="75000">
                <a:srgbClr val="201E1D">
                  <a:alpha val="100000"/>
                </a:srgbClr>
              </a:gs>
            </a:gsLst>
            <a:lin ang="0" scaled="0"/>
          </a:gra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10075" y="190500"/>
            <a:ext cx="609600" cy="152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2026-09-02T15:45:03Z</dcterms:created>
  <dcterms:modified xsi:type="dcterms:W3CDTF">2026-09-02T15:45:03Z</dcterms:modified>
</cp:coreProperties>
</file>